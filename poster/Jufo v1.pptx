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16FF450C.xml" ContentType="application/vnd.ms-powerpoint.comments+xml"/>
  <Override PartName="/ppt/comments/modernComment_103_979A68B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9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F6C34F-2DC2-B054-F9B5-BE8EDC4A1B09}" name="Paul Moritz Baumgartner" initials="PB" userId="S::Paul.2299@mariano-josephinum.net::fa8d80c5-339a-482e-ba3c-1cec7fa698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141"/>
    <a:srgbClr val="77B5B6"/>
    <a:srgbClr val="BE1818"/>
    <a:srgbClr val="262626"/>
    <a:srgbClr val="662D91"/>
    <a:srgbClr val="F68B1F"/>
    <a:srgbClr val="EFEFEF"/>
    <a:srgbClr val="4A148C"/>
    <a:srgbClr val="263238"/>
    <a:srgbClr val="006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8" autoAdjust="0"/>
  </p:normalViewPr>
  <p:slideViewPr>
    <p:cSldViewPr snapToGrid="0">
      <p:cViewPr varScale="1">
        <p:scale>
          <a:sx n="18" d="100"/>
          <a:sy n="18" d="100"/>
        </p:scale>
        <p:origin x="218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3_979A68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A25906-2570-4E2B-812E-B132670473A5}" authorId="{9AF6C34F-2DC2-B054-F9B5-BE8EDC4A1B09}" created="2026-02-01T18:54:35.811">
    <pc:sldMkLst xmlns:pc="http://schemas.microsoft.com/office/powerpoint/2013/main/command">
      <pc:docMk/>
      <pc:sldMk cId="2234309281" sldId="257"/>
    </pc:sldMkLst>
    <p188:txBody>
      <a:bodyPr/>
      <a:lstStyle/>
      <a:p>
        <a:r>
          <a:rPr lang="de-DE"/>
          <a:t>TODO: Akzent fehlt, ich will aber nicht vom Hauptplakat ablenken</a:t>
        </a:r>
      </a:p>
    </p188:txBody>
  </p188:cm>
</p188:cmLst>
</file>

<file path=ppt/comments/modernComment_104_16FF45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0D8822-B26E-450F-883B-EF6A82AD4985}" authorId="{9AF6C34F-2DC2-B054-F9B5-BE8EDC4A1B09}" created="2026-02-01T18:44:09.7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3" creationId="{540B08C8-BDEE-E950-3167-3D07CF0D53B1}"/>
    </ac:deMkLst>
    <p188:txBody>
      <a:bodyPr/>
      <a:lstStyle/>
      <a:p>
        <a:r>
          <a:rPr lang="de-DE"/>
          <a:t>TODO: “Ziel: Über die Einbindung von Wahrscheinlichkeit eine statische Analyse (symbolische Ausführung) verhindern”</a:t>
        </a:r>
      </a:p>
    </p188:txBody>
  </p188:cm>
  <p188:cm id="{ED924FC8-0FA6-4259-BEFC-60F0A21155D9}" authorId="{9AF6C34F-2DC2-B054-F9B5-BE8EDC4A1B09}" created="2026-02-01T18:53:16.4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picMk id="9" creationId="{947FC2EE-1976-4BBF-B8F0-710D3F87A805}"/>
    </ac:deMkLst>
    <p188:txBody>
      <a:bodyPr/>
      <a:lstStyle/>
      <a:p>
        <a:r>
          <a:rPr lang="de-DE"/>
          <a:t>TODO: “beliebiges wahrscheinliches/unwahrscheinliches Ereignis”</a:t>
        </a:r>
      </a:p>
    </p188:txBody>
  </p188:cm>
  <p188:cm id="{43027E9F-3F28-4029-9CF0-D69E855CA7A0}" authorId="{9AF6C34F-2DC2-B054-F9B5-BE8EDC4A1B09}" created="2026-02-01T19:19:02.628">
    <pc:sldMkLst xmlns:pc="http://schemas.microsoft.com/office/powerpoint/2013/main/command">
      <pc:docMk/>
      <pc:sldMk cId="662819743" sldId="256"/>
    </pc:sldMkLst>
    <p188:txBody>
      <a:bodyPr/>
      <a:lstStyle/>
      <a:p>
        <a:r>
          <a:rPr lang="de-DE"/>
          <a:t>TODO: Bei Fakten Quellenverweise?</a:t>
        </a:r>
      </a:p>
    </p188:txBody>
  </p188:cm>
  <p188:cm id="{E4685872-D4FB-4541-8F69-97F427FC2771}" authorId="{9AF6C34F-2DC2-B054-F9B5-BE8EDC4A1B09}" created="2026-02-02T16:16:51.4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picMk id="6" creationId="{9960482E-9C56-42B6-E3AC-AD7EAE97B916}"/>
    </ac:deMkLst>
    <p188:txBody>
      <a:bodyPr/>
      <a:lstStyle/>
      <a:p>
        <a:r>
          <a:rPr lang="de-DE"/>
          <a:t>TODO: Tabelle mit Resistenz</a:t>
        </a:r>
      </a:p>
    </p188:txBody>
  </p188:cm>
  <p188:cm id="{BCA9888E-0531-454F-937C-955D482CA2C3}" authorId="{9AF6C34F-2DC2-B054-F9B5-BE8EDC4A1B09}" created="2026-02-03T20:17:11.1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51" creationId="{683DC669-1EF7-2E41-FA93-746ABBB670C8}"/>
    </ac:deMkLst>
    <p188:txBody>
      <a:bodyPr/>
      <a:lstStyle/>
      <a:p>
        <a:r>
          <a:rPr lang="de-DE"/>
          <a:t>TODO: Text zu klein!!!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636" indent="0" algn="ctr">
              <a:buNone/>
              <a:defRPr sz="6621"/>
            </a:lvl2pPr>
            <a:lvl3pPr marL="3027273" indent="0" algn="ctr">
              <a:buNone/>
              <a:defRPr sz="5959"/>
            </a:lvl3pPr>
            <a:lvl4pPr marL="4540910" indent="0" algn="ctr">
              <a:buNone/>
              <a:defRPr sz="5296"/>
            </a:lvl4pPr>
            <a:lvl5pPr marL="6054547" indent="0" algn="ctr">
              <a:buNone/>
              <a:defRPr sz="5296"/>
            </a:lvl5pPr>
            <a:lvl6pPr marL="7568183" indent="0" algn="ctr">
              <a:buNone/>
              <a:defRPr sz="5296"/>
            </a:lvl6pPr>
            <a:lvl7pPr marL="9081820" indent="0" algn="ctr">
              <a:buNone/>
              <a:defRPr sz="5296"/>
            </a:lvl7pPr>
            <a:lvl8pPr marL="10595456" indent="0" algn="ctr">
              <a:buNone/>
              <a:defRPr sz="5296"/>
            </a:lvl8pPr>
            <a:lvl9pPr marL="12109093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7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636" indent="0">
              <a:buNone/>
              <a:defRPr sz="6621">
                <a:solidFill>
                  <a:schemeClr val="tx1">
                    <a:tint val="75000"/>
                  </a:schemeClr>
                </a:solidFill>
              </a:defRPr>
            </a:lvl2pPr>
            <a:lvl3pPr marL="3027273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3pPr>
            <a:lvl4pPr marL="454091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4547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818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182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545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909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0" y="6162959"/>
            <a:ext cx="15326827" cy="30418415"/>
          </a:xfrm>
        </p:spPr>
        <p:txBody>
          <a:bodyPr/>
          <a:lstStyle>
            <a:lvl1pPr>
              <a:defRPr sz="10594"/>
            </a:lvl1pPr>
            <a:lvl2pPr>
              <a:defRPr sz="9270"/>
            </a:lvl2pPr>
            <a:lvl3pPr>
              <a:defRPr sz="7945"/>
            </a:lvl3pPr>
            <a:lvl4pPr>
              <a:defRPr sz="6621"/>
            </a:lvl4pPr>
            <a:lvl5pPr>
              <a:defRPr sz="6621"/>
            </a:lvl5pPr>
            <a:lvl6pPr>
              <a:defRPr sz="6621"/>
            </a:lvl6pPr>
            <a:lvl7pPr>
              <a:defRPr sz="6621"/>
            </a:lvl7pPr>
            <a:lvl8pPr>
              <a:defRPr sz="6621"/>
            </a:lvl8pPr>
            <a:lvl9pPr>
              <a:defRPr sz="66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0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4"/>
            </a:lvl1pPr>
            <a:lvl2pPr marL="1513636" indent="0">
              <a:buNone/>
              <a:defRPr sz="9270"/>
            </a:lvl2pPr>
            <a:lvl3pPr marL="3027273" indent="0">
              <a:buNone/>
              <a:defRPr sz="7945"/>
            </a:lvl3pPr>
            <a:lvl4pPr marL="4540910" indent="0">
              <a:buNone/>
              <a:defRPr sz="6621"/>
            </a:lvl4pPr>
            <a:lvl5pPr marL="6054547" indent="0">
              <a:buNone/>
              <a:defRPr sz="6621"/>
            </a:lvl5pPr>
            <a:lvl6pPr marL="7568183" indent="0">
              <a:buNone/>
              <a:defRPr sz="6621"/>
            </a:lvl6pPr>
            <a:lvl7pPr marL="9081820" indent="0">
              <a:buNone/>
              <a:defRPr sz="6621"/>
            </a:lvl7pPr>
            <a:lvl8pPr marL="10595456" indent="0">
              <a:buNone/>
              <a:defRPr sz="6621"/>
            </a:lvl8pPr>
            <a:lvl9pPr marL="12109093" indent="0">
              <a:buNone/>
              <a:defRPr sz="66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27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19" indent="-756819" algn="l" defTabSz="302727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45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09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728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36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001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8639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27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591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63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27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091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547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18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182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545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09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04_16FF450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microsoft.com/office/2018/10/relationships/comments" Target="../comments/modernComment_103_979A68B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9CDE-92D7-6F78-22D2-124D116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90DA43D-5F6F-4B02-44F7-ED04CB4A11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3033" y="10650786"/>
            <a:ext cx="27852588" cy="10751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01FAC1A-D6A0-E798-6E0C-CC95B15BC29F}"/>
              </a:ext>
            </a:extLst>
          </p:cNvPr>
          <p:cNvGrpSpPr/>
          <p:nvPr/>
        </p:nvGrpSpPr>
        <p:grpSpPr>
          <a:xfrm>
            <a:off x="0" y="-64708"/>
            <a:ext cx="30275212" cy="3409387"/>
            <a:chOff x="0" y="-64708"/>
            <a:chExt cx="30275212" cy="340938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32C207-C562-A2C6-C19E-B4949A621351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32756E1-0112-7209-4BE5-CD54660B67FD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0B08C8-BDEE-E950-3167-3D07CF0D53B1}"/>
              </a:ext>
            </a:extLst>
          </p:cNvPr>
          <p:cNvSpPr txBox="1"/>
          <p:nvPr/>
        </p:nvSpPr>
        <p:spPr>
          <a:xfrm>
            <a:off x="1313032" y="5511349"/>
            <a:ext cx="27822593" cy="445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Problem: 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Aktuelle Softwareverschleierungsmethoden (opake Prädikate) sind nicht resistent gegenüber symbolischer Ausführung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Möglichkeit, Software zu verstehen &amp; zu rekonstruieren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~1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5</a:t>
            </a:r>
            <a:r>
              <a:rPr lang="de-DE" sz="4000" noProof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Mrd. Euro an Profit gehen jährlich in der EU durch Reverse Engineering/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Cracking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verloren</a:t>
            </a:r>
            <a:endParaRPr lang="de-DE" sz="4000" noProof="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52097C-C854-5255-1CF2-F0952302D6BB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3991CC1D-BE83-02E0-DB26-F7401DE6C385}"/>
              </a:ext>
            </a:extLst>
          </p:cNvPr>
          <p:cNvSpPr txBox="1"/>
          <p:nvPr/>
        </p:nvSpPr>
        <p:spPr>
          <a:xfrm>
            <a:off x="1313030" y="21789617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1: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Laufzeitimpakt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6D9D6EC9-71CC-AAB9-7828-203668383F95}"/>
              </a:ext>
            </a:extLst>
          </p:cNvPr>
          <p:cNvSpPr txBox="1"/>
          <p:nvPr/>
        </p:nvSpPr>
        <p:spPr>
          <a:xfrm>
            <a:off x="15137604" y="21789618"/>
            <a:ext cx="13998019" cy="274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2: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Trotz der geringen Wahrscheinlichkeit, dass die POP-Prädikate den falschen Wert annehmen,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funktionieren alle Programme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</a:t>
            </a:r>
            <a:endParaRPr lang="de-DE" sz="4000" noProof="0" dirty="0"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3B3CE45-0AA7-B307-3263-E4E6D7DDC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7228" y="247052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62CEB89-CBD4-DD55-75DA-E503722A21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55302" y="247052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A593D394-D4DC-B120-FE96-AC385AD8F1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98583" y="34815996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sp>
        <p:nvSpPr>
          <p:cNvPr id="30" name="TextBox 31">
            <a:extLst>
              <a:ext uri="{FF2B5EF4-FFF2-40B4-BE49-F238E27FC236}">
                <a16:creationId xmlns:a16="http://schemas.microsoft.com/office/drawing/2014/main" id="{1E1F6667-492E-5B92-6619-F7314B41D794}"/>
              </a:ext>
            </a:extLst>
          </p:cNvPr>
          <p:cNvSpPr txBox="1"/>
          <p:nvPr/>
        </p:nvSpPr>
        <p:spPr>
          <a:xfrm>
            <a:off x="1313030" y="32654058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3: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Speicherimpakt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4C7480C9-BC8F-36AC-8E1D-84396F33223A}"/>
              </a:ext>
            </a:extLst>
          </p:cNvPr>
          <p:cNvSpPr txBox="1"/>
          <p:nvPr/>
        </p:nvSpPr>
        <p:spPr>
          <a:xfrm>
            <a:off x="15290417" y="32712966"/>
            <a:ext cx="14890111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4: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eingefügte Programmcode unterscheidet sich statistisch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von regulären Programmen.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60482E-9C56-42B6-E3AC-AD7EAE97B9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15793" y="34815996"/>
            <a:ext cx="13192289" cy="769550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6304AD-446C-8600-910C-01F1EBFFD72A}"/>
              </a:ext>
            </a:extLst>
          </p:cNvPr>
          <p:cNvGrpSpPr/>
          <p:nvPr/>
        </p:nvGrpSpPr>
        <p:grpSpPr>
          <a:xfrm>
            <a:off x="3115513" y="10695004"/>
            <a:ext cx="25000559" cy="10548983"/>
            <a:chOff x="3592146" y="10691577"/>
            <a:chExt cx="25000559" cy="1054898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BAABF62B-0624-B880-9EAA-18E0F16D5B5B}"/>
                </a:ext>
              </a:extLst>
            </p:cNvPr>
            <p:cNvGrpSpPr/>
            <p:nvPr/>
          </p:nvGrpSpPr>
          <p:grpSpPr>
            <a:xfrm>
              <a:off x="11682780" y="10691577"/>
              <a:ext cx="6563929" cy="10548983"/>
              <a:chOff x="11682780" y="10691577"/>
              <a:chExt cx="6563929" cy="10548983"/>
            </a:xfrm>
          </p:grpSpPr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AE369276-41FB-2ED6-5B9C-401E1377C24C}"/>
                  </a:ext>
                </a:extLst>
              </p:cNvPr>
              <p:cNvGrpSpPr/>
              <p:nvPr/>
            </p:nvGrpSpPr>
            <p:grpSpPr>
              <a:xfrm>
                <a:off x="11682780" y="11495127"/>
                <a:ext cx="6247134" cy="9745433"/>
                <a:chOff x="11682780" y="11495127"/>
                <a:chExt cx="6247134" cy="9745433"/>
              </a:xfrm>
            </p:grpSpPr>
            <p:grpSp>
              <p:nvGrpSpPr>
                <p:cNvPr id="45" name="Gruppieren 44">
                  <a:extLst>
                    <a:ext uri="{FF2B5EF4-FFF2-40B4-BE49-F238E27FC236}">
                      <a16:creationId xmlns:a16="http://schemas.microsoft.com/office/drawing/2014/main" id="{A767E0F4-3913-4872-B50F-DC7B04FBEE63}"/>
                    </a:ext>
                  </a:extLst>
                </p:cNvPr>
                <p:cNvGrpSpPr/>
                <p:nvPr/>
              </p:nvGrpSpPr>
              <p:grpSpPr>
                <a:xfrm>
                  <a:off x="11682780" y="11495127"/>
                  <a:ext cx="6247134" cy="9745433"/>
                  <a:chOff x="11682780" y="11495127"/>
                  <a:chExt cx="6247134" cy="9745433"/>
                </a:xfrm>
              </p:grpSpPr>
              <p:grpSp>
                <p:nvGrpSpPr>
                  <p:cNvPr id="44" name="Gruppieren 43">
                    <a:extLst>
                      <a:ext uri="{FF2B5EF4-FFF2-40B4-BE49-F238E27FC236}">
                        <a16:creationId xmlns:a16="http://schemas.microsoft.com/office/drawing/2014/main" id="{95E6654B-0A47-47CC-7408-473AE73BD662}"/>
                      </a:ext>
                    </a:extLst>
                  </p:cNvPr>
                  <p:cNvGrpSpPr/>
                  <p:nvPr/>
                </p:nvGrpSpPr>
                <p:grpSpPr>
                  <a:xfrm>
                    <a:off x="11682780" y="11495127"/>
                    <a:ext cx="6247134" cy="9745433"/>
                    <a:chOff x="11682780" y="11495127"/>
                    <a:chExt cx="6247134" cy="9745433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683DC669-1EF7-2E41-FA93-746ABBB670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=2?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0905448C-CF87-088C-853F-BB69AD35447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2" name="Gerade Verbindung mit Pfeil 51">
                      <a:extLst>
                        <a:ext uri="{FF2B5EF4-FFF2-40B4-BE49-F238E27FC236}">
                          <a16:creationId xmlns:a16="http://schemas.microsoft.com/office/drawing/2014/main" id="{7108D119-CE35-29A6-92C1-900D085B6283}"/>
                        </a:ext>
                      </a:extLst>
                    </p:cNvPr>
                    <p:cNvCxnSpPr>
                      <a:cxnSpLocks/>
                      <a:stCxn id="51" idx="2"/>
                      <a:endCxn id="54" idx="0"/>
                    </p:cNvCxnSpPr>
                    <p:nvPr/>
                  </p:nvCxnSpPr>
                  <p:spPr>
                    <a:xfrm flipH="1">
                      <a:off x="12460962" y="18035482"/>
                      <a:ext cx="1556365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Gerade Verbindung mit Pfeil 52">
                      <a:extLst>
                        <a:ext uri="{FF2B5EF4-FFF2-40B4-BE49-F238E27FC236}">
                          <a16:creationId xmlns:a16="http://schemas.microsoft.com/office/drawing/2014/main" id="{83130FE1-FFC9-7831-E3B2-BE2D259301E7}"/>
                        </a:ext>
                      </a:extLst>
                    </p:cNvPr>
                    <p:cNvCxnSpPr>
                      <a:cxnSpLocks/>
                      <a:stCxn id="51" idx="2"/>
                      <a:endCxn id="55" idx="0"/>
                    </p:cNvCxnSpPr>
                    <p:nvPr/>
                  </p:nvCxnSpPr>
                  <p:spPr>
                    <a:xfrm>
                      <a:off x="14017327" y="18035482"/>
                      <a:ext cx="1602538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Flussdiagramm: Prozess 53">
                      <a:extLst>
                        <a:ext uri="{FF2B5EF4-FFF2-40B4-BE49-F238E27FC236}">
                          <a16:creationId xmlns:a16="http://schemas.microsoft.com/office/drawing/2014/main" id="{3626F3CE-A9A2-5073-6917-2C22F816E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82780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A</a:t>
                      </a:r>
                    </a:p>
                  </p:txBody>
                </p:sp>
                <p:sp>
                  <p:nvSpPr>
                    <p:cNvPr id="55" name="Flussdiagramm: Prozess 54">
                      <a:extLst>
                        <a:ext uri="{FF2B5EF4-FFF2-40B4-BE49-F238E27FC236}">
                          <a16:creationId xmlns:a16="http://schemas.microsoft.com/office/drawing/2014/main" id="{BE335687-FE06-5E95-D38F-F0EB8B0D9A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41683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B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594B6C5F-36CB-B82D-B689-4A7D5A0FE7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1=1?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7E8AA945-9454-E271-AAA8-BD9FCD30073F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7" name="Gerade Verbindung mit Pfeil 56">
                      <a:extLst>
                        <a:ext uri="{FF2B5EF4-FFF2-40B4-BE49-F238E27FC236}">
                          <a16:creationId xmlns:a16="http://schemas.microsoft.com/office/drawing/2014/main" id="{7DA4E526-E4BD-AA57-AE08-62504F841F3B}"/>
                        </a:ext>
                      </a:extLst>
                    </p:cNvPr>
                    <p:cNvCxnSpPr>
                      <a:cxnSpLocks/>
                      <a:stCxn id="56" idx="2"/>
                      <a:endCxn id="51" idx="0"/>
                    </p:cNvCxnSpPr>
                    <p:nvPr/>
                  </p:nvCxnSpPr>
                  <p:spPr>
                    <a:xfrm flipH="1">
                      <a:off x="14017327" y="13959897"/>
                      <a:ext cx="1578039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Gerade Verbindung mit Pfeil 57">
                      <a:extLst>
                        <a:ext uri="{FF2B5EF4-FFF2-40B4-BE49-F238E27FC236}">
                          <a16:creationId xmlns:a16="http://schemas.microsoft.com/office/drawing/2014/main" id="{5941321B-888E-F69D-0D2D-30983AE201A9}"/>
                        </a:ext>
                      </a:extLst>
                    </p:cNvPr>
                    <p:cNvCxnSpPr>
                      <a:cxnSpLocks/>
                      <a:stCxn id="56" idx="2"/>
                      <a:endCxn id="59" idx="0"/>
                    </p:cNvCxnSpPr>
                    <p:nvPr/>
                  </p:nvCxnSpPr>
                  <p:spPr>
                    <a:xfrm>
                      <a:off x="15595367" y="13959897"/>
                      <a:ext cx="1556365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9" name="Flussdiagramm: Prozess 58">
                      <a:extLst>
                        <a:ext uri="{FF2B5EF4-FFF2-40B4-BE49-F238E27FC236}">
                          <a16:creationId xmlns:a16="http://schemas.microsoft.com/office/drawing/2014/main" id="{A51EA3CF-FCCF-3ED7-E7A3-E3383FF61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73549" y="15570712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E7414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C</a:t>
                      </a:r>
                    </a:p>
                  </p:txBody>
                </p:sp>
              </p:grpSp>
              <p:sp>
                <p:nvSpPr>
                  <p:cNvPr id="63" name="Textfeld 62">
                    <a:extLst>
                      <a:ext uri="{FF2B5EF4-FFF2-40B4-BE49-F238E27FC236}">
                        <a16:creationId xmlns:a16="http://schemas.microsoft.com/office/drawing/2014/main" id="{92BA0295-365E-76CE-D131-9E492E8EBCC2}"/>
                      </a:ext>
                    </a:extLst>
                  </p:cNvPr>
                  <p:cNvSpPr txBox="1"/>
                  <p:nvPr/>
                </p:nvSpPr>
                <p:spPr>
                  <a:xfrm>
                    <a:off x="13684456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100%</a:t>
                    </a:r>
                  </a:p>
                </p:txBody>
              </p:sp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1B5B3DE3-92E3-BFAE-0902-B7BFC6B72245}"/>
                      </a:ext>
                    </a:extLst>
                  </p:cNvPr>
                  <p:cNvSpPr txBox="1"/>
                  <p:nvPr/>
                </p:nvSpPr>
                <p:spPr>
                  <a:xfrm>
                    <a:off x="16493355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0%</a:t>
                    </a:r>
                  </a:p>
                </p:txBody>
              </p:sp>
            </p:grpSp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58BE8BE3-91EF-402D-EB1B-DD8D282788E5}"/>
                    </a:ext>
                  </a:extLst>
                </p:cNvPr>
                <p:cNvSpPr txBox="1"/>
                <p:nvPr/>
              </p:nvSpPr>
              <p:spPr>
                <a:xfrm>
                  <a:off x="12374507" y="18486524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4A90F985-9948-FF6E-3F3B-C43FA47F2F52}"/>
                    </a:ext>
                  </a:extLst>
                </p:cNvPr>
                <p:cNvSpPr txBox="1"/>
                <p:nvPr/>
              </p:nvSpPr>
              <p:spPr>
                <a:xfrm>
                  <a:off x="14871610" y="18486524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6697333-9AE9-E800-4FA8-0010A0F9F0B0}"/>
                  </a:ext>
                </a:extLst>
              </p:cNvPr>
              <p:cNvSpPr txBox="1"/>
              <p:nvPr/>
            </p:nvSpPr>
            <p:spPr>
              <a:xfrm>
                <a:off x="12182292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Obfuskiertes Programm</a:t>
                </a:r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8CCCA7C7-1098-D4DB-18AF-EFEDAEBB05E5}"/>
                </a:ext>
              </a:extLst>
            </p:cNvPr>
            <p:cNvGrpSpPr/>
            <p:nvPr/>
          </p:nvGrpSpPr>
          <p:grpSpPr>
            <a:xfrm>
              <a:off x="18709012" y="10691577"/>
              <a:ext cx="9883693" cy="10548983"/>
              <a:chOff x="18709012" y="10691577"/>
              <a:chExt cx="9883693" cy="10548983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1E7AB4C4-7176-7504-8E45-0EA125771C2E}"/>
                  </a:ext>
                </a:extLst>
              </p:cNvPr>
              <p:cNvGrpSpPr/>
              <p:nvPr/>
            </p:nvGrpSpPr>
            <p:grpSpPr>
              <a:xfrm>
                <a:off x="19641328" y="11336400"/>
                <a:ext cx="6247134" cy="9904160"/>
                <a:chOff x="19641328" y="11336400"/>
                <a:chExt cx="6247134" cy="9904160"/>
              </a:xfrm>
            </p:grpSpPr>
            <p:grpSp>
              <p:nvGrpSpPr>
                <p:cNvPr id="60" name="Gruppieren 59">
                  <a:extLst>
                    <a:ext uri="{FF2B5EF4-FFF2-40B4-BE49-F238E27FC236}">
                      <a16:creationId xmlns:a16="http://schemas.microsoft.com/office/drawing/2014/main" id="{AE0F6782-2710-51CA-091D-734FF39DDDB8}"/>
                    </a:ext>
                  </a:extLst>
                </p:cNvPr>
                <p:cNvGrpSpPr/>
                <p:nvPr/>
              </p:nvGrpSpPr>
              <p:grpSpPr>
                <a:xfrm>
                  <a:off x="19641328" y="11336400"/>
                  <a:ext cx="6247134" cy="9904160"/>
                  <a:chOff x="19641328" y="11336400"/>
                  <a:chExt cx="6247134" cy="9904160"/>
                </a:xfrm>
              </p:grpSpPr>
              <p:sp>
                <p:nvSpPr>
                  <p:cNvPr id="84" name="Textfeld 83">
                    <a:extLst>
                      <a:ext uri="{FF2B5EF4-FFF2-40B4-BE49-F238E27FC236}">
                        <a16:creationId xmlns:a16="http://schemas.microsoft.com/office/drawing/2014/main" id="{1CF99B22-0116-7ABD-B492-C18E6ECB09FF}"/>
                      </a:ext>
                    </a:extLst>
                  </p:cNvPr>
                  <p:cNvSpPr txBox="1"/>
                  <p:nvPr/>
                </p:nvSpPr>
                <p:spPr>
                  <a:xfrm>
                    <a:off x="20332865" y="18491848"/>
                    <a:ext cx="86482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wahr</a:t>
                    </a:r>
                  </a:p>
                </p:txBody>
              </p:sp>
              <p:sp>
                <p:nvSpPr>
                  <p:cNvPr id="85" name="Textfeld 84">
                    <a:extLst>
                      <a:ext uri="{FF2B5EF4-FFF2-40B4-BE49-F238E27FC236}">
                        <a16:creationId xmlns:a16="http://schemas.microsoft.com/office/drawing/2014/main" id="{3F31725B-DBF2-D326-16DA-7CA1149F45BD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0158" y="18486524"/>
                    <a:ext cx="10684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falsch</a:t>
                    </a:r>
                  </a:p>
                </p:txBody>
              </p:sp>
              <p:grpSp>
                <p:nvGrpSpPr>
                  <p:cNvPr id="49" name="Gruppieren 48">
                    <a:extLst>
                      <a:ext uri="{FF2B5EF4-FFF2-40B4-BE49-F238E27FC236}">
                        <a16:creationId xmlns:a16="http://schemas.microsoft.com/office/drawing/2014/main" id="{6D1F5658-0AD6-1BE0-EA39-5890E0411D3E}"/>
                      </a:ext>
                    </a:extLst>
                  </p:cNvPr>
                  <p:cNvGrpSpPr/>
                  <p:nvPr/>
                </p:nvGrpSpPr>
                <p:grpSpPr>
                  <a:xfrm>
                    <a:off x="19641328" y="11336400"/>
                    <a:ext cx="6247134" cy="9904160"/>
                    <a:chOff x="19641328" y="11336400"/>
                    <a:chExt cx="6247134" cy="9904160"/>
                  </a:xfrm>
                </p:grpSpPr>
                <p:sp>
                  <p:nvSpPr>
                    <p:cNvPr id="80" name="Textfeld 79">
                      <a:extLst>
                        <a:ext uri="{FF2B5EF4-FFF2-40B4-BE49-F238E27FC236}">
                          <a16:creationId xmlns:a16="http://schemas.microsoft.com/office/drawing/2014/main" id="{0E7128B8-3777-7054-835F-DBC62075CD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555775" y="14373882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99.9%</a:t>
                      </a:r>
                    </a:p>
                  </p:txBody>
                </p:sp>
                <p:sp>
                  <p:nvSpPr>
                    <p:cNvPr id="81" name="Textfeld 80">
                      <a:extLst>
                        <a:ext uri="{FF2B5EF4-FFF2-40B4-BE49-F238E27FC236}">
                          <a16:creationId xmlns:a16="http://schemas.microsoft.com/office/drawing/2014/main" id="{1F3F353E-2F83-2021-34D3-38692C0B9A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454117" y="14373884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0.1%</a:t>
                      </a:r>
                    </a:p>
                  </p:txBody>
                </p:sp>
                <p:grpSp>
                  <p:nvGrpSpPr>
                    <p:cNvPr id="47" name="Gruppieren 46">
                      <a:extLst>
                        <a:ext uri="{FF2B5EF4-FFF2-40B4-BE49-F238E27FC236}">
                          <a16:creationId xmlns:a16="http://schemas.microsoft.com/office/drawing/2014/main" id="{34B07E45-C260-7213-72D9-9C72002F28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641328" y="11336400"/>
                      <a:ext cx="6247134" cy="9904160"/>
                      <a:chOff x="19641328" y="11336400"/>
                      <a:chExt cx="6247134" cy="9904160"/>
                    </a:xfrm>
                  </p:grpSpPr>
                  <p:grpSp>
                    <p:nvGrpSpPr>
                      <p:cNvPr id="48" name="Gruppieren 47">
                        <a:extLst>
                          <a:ext uri="{FF2B5EF4-FFF2-40B4-BE49-F238E27FC236}">
                            <a16:creationId xmlns:a16="http://schemas.microsoft.com/office/drawing/2014/main" id="{50A65B8B-84D2-AC74-4D70-4DC361FBB3A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41328" y="11495127"/>
                        <a:ext cx="6247134" cy="9745433"/>
                        <a:chOff x="10885975" y="10931051"/>
                        <a:chExt cx="6669212" cy="10403865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2613652B-9AE3-5A8B-D1E1-5F55E26A4A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=2?</m:t>
                                    </m:r>
                                  </m:oMath>
                                </m:oMathPara>
                              </a14:m>
                              <a:endParaRPr lang="de-DE" sz="3200" noProof="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C2534D18-4C68-9553-9B69-2FF2A2AB7174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blipFill>
                              <a:blip r:embed="rId13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de-DE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cxnSp>
                      <p:nvCxnSpPr>
                        <p:cNvPr id="24" name="Gerade Verbindung mit Pfeil 23">
                          <a:extLst>
                            <a:ext uri="{FF2B5EF4-FFF2-40B4-BE49-F238E27FC236}">
                              <a16:creationId xmlns:a16="http://schemas.microsoft.com/office/drawing/2014/main" id="{31D62D23-6BDD-351F-7FDA-46620556A6FE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7" idx="0"/>
                        </p:cNvCxnSpPr>
                        <p:nvPr/>
                      </p:nvCxnSpPr>
                      <p:spPr>
                        <a:xfrm flipH="1">
                          <a:off x="11716735" y="17913292"/>
                          <a:ext cx="1661518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Gerade Verbindung mit Pfeil 24">
                          <a:extLst>
                            <a:ext uri="{FF2B5EF4-FFF2-40B4-BE49-F238E27FC236}">
                              <a16:creationId xmlns:a16="http://schemas.microsoft.com/office/drawing/2014/main" id="{C84321EF-5474-7E57-6A8A-9F0D71E44E76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8" idx="0"/>
                        </p:cNvCxnSpPr>
                        <p:nvPr/>
                      </p:nvCxnSpPr>
                      <p:spPr>
                        <a:xfrm>
                          <a:off x="13378253" y="17913292"/>
                          <a:ext cx="1710811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7" name="Flussdiagramm: Prozess 26">
                          <a:extLst>
                            <a:ext uri="{FF2B5EF4-FFF2-40B4-BE49-F238E27FC236}">
                              <a16:creationId xmlns:a16="http://schemas.microsoft.com/office/drawing/2014/main" id="{6933E024-A479-BC11-9670-AB000B979A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885975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A</a:t>
                          </a:r>
                        </a:p>
                      </p:txBody>
                    </p:sp>
                    <p:sp>
                      <p:nvSpPr>
                        <p:cNvPr id="28" name="Flussdiagramm: Prozess 27">
                          <a:extLst>
                            <a:ext uri="{FF2B5EF4-FFF2-40B4-BE49-F238E27FC236}">
                              <a16:creationId xmlns:a16="http://schemas.microsoft.com/office/drawing/2014/main" id="{C5417BC0-24E7-179B-702D-CF97072B12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58304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B</a:t>
                          </a:r>
                        </a:p>
                      </p:txBody>
                    </p:sp>
                    <p:sp>
                      <p:nvSpPr>
                        <p:cNvPr id="5" name="Flussdiagramm: Verzweigung 4">
                          <a:extLst>
                            <a:ext uri="{FF2B5EF4-FFF2-40B4-BE49-F238E27FC236}">
                              <a16:creationId xmlns:a16="http://schemas.microsoft.com/office/drawing/2014/main" id="{1C8C3B4F-B3C8-F1FC-F19C-13C356594A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84849" y="10931051"/>
                          <a:ext cx="2556119" cy="2631298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 sz="2800" b="1" noProof="0" dirty="0"/>
                        </a:p>
                      </p:txBody>
                    </p:sp>
                    <p:cxnSp>
                      <p:nvCxnSpPr>
                        <p:cNvPr id="12" name="Gerade Verbindung mit Pfeil 11">
                          <a:extLst>
                            <a:ext uri="{FF2B5EF4-FFF2-40B4-BE49-F238E27FC236}">
                              <a16:creationId xmlns:a16="http://schemas.microsoft.com/office/drawing/2014/main" id="{9F73EE5F-4552-A8A3-E762-38AC0F58B5A9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22" idx="0"/>
                        </p:cNvCxnSpPr>
                        <p:nvPr/>
                      </p:nvCxnSpPr>
                      <p:spPr>
                        <a:xfrm flipH="1">
                          <a:off x="13378255" y="13562349"/>
                          <a:ext cx="1684657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" name="Gerade Verbindung mit Pfeil 12">
                          <a:extLst>
                            <a:ext uri="{FF2B5EF4-FFF2-40B4-BE49-F238E27FC236}">
                              <a16:creationId xmlns:a16="http://schemas.microsoft.com/office/drawing/2014/main" id="{38D7676C-59E0-3A45-7EFC-2FE039D57B43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46" idx="0"/>
                        </p:cNvCxnSpPr>
                        <p:nvPr/>
                      </p:nvCxnSpPr>
                      <p:spPr>
                        <a:xfrm>
                          <a:off x="15062907" y="13562349"/>
                          <a:ext cx="1661518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46" name="Flussdiagramm: Prozess 45">
                          <a:extLst>
                            <a:ext uri="{FF2B5EF4-FFF2-40B4-BE49-F238E27FC236}">
                              <a16:creationId xmlns:a16="http://schemas.microsoft.com/office/drawing/2014/main" id="{D0C30405-C97E-2700-0106-42E934C09E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893669" y="1528199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E7414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C</a:t>
                          </a:r>
                        </a:p>
                      </p:txBody>
                    </p:sp>
                  </p:grpSp>
                  <p:pic>
                    <p:nvPicPr>
                      <p:cNvPr id="9" name="Grafik 8" descr="Ein Bild, das Grafiken, Clipart, Grafikdesign, Kunst enthält.&#10;&#10;KI-generierte Inhalte können fehlerhaft sein.">
                        <a:extLst>
                          <a:ext uri="{FF2B5EF4-FFF2-40B4-BE49-F238E27FC236}">
                            <a16:creationId xmlns:a16="http://schemas.microsoft.com/office/drawing/2014/main" id="{947FC2EE-1976-4BBF-B8F0-710D3F87A8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21556800" y="11336400"/>
                        <a:ext cx="3592079" cy="2694059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1B624560-08FE-557E-1C66-629FF095C3A8}"/>
                    </a:ext>
                  </a:extLst>
                </p:cNvPr>
                <p:cNvSpPr txBox="1"/>
                <p:nvPr/>
              </p:nvSpPr>
              <p:spPr>
                <a:xfrm>
                  <a:off x="23898589" y="11743906"/>
                  <a:ext cx="1440417" cy="2215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3800" b="1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?</a:t>
                  </a:r>
                </a:p>
              </p:txBody>
            </p:sp>
          </p:grp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8EE40AA-4494-D181-7460-9F5905935055}"/>
                  </a:ext>
                </a:extLst>
              </p:cNvPr>
              <p:cNvSpPr txBox="1"/>
              <p:nvPr/>
            </p:nvSpPr>
            <p:spPr>
              <a:xfrm>
                <a:off x="18709012" y="10691577"/>
                <a:ext cx="9883693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Probabilistisch obfuskiertes Programm</a:t>
                </a: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8D8D9ECF-2775-016A-5729-D1970618DA94}"/>
                </a:ext>
              </a:extLst>
            </p:cNvPr>
            <p:cNvGrpSpPr/>
            <p:nvPr/>
          </p:nvGrpSpPr>
          <p:grpSpPr>
            <a:xfrm>
              <a:off x="3592146" y="10691577"/>
              <a:ext cx="6064417" cy="10548983"/>
              <a:chOff x="3592146" y="10691577"/>
              <a:chExt cx="6064417" cy="10548983"/>
            </a:xfrm>
          </p:grpSpPr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1FD6650-04CB-01DA-7DBA-890CF94763C4}"/>
                  </a:ext>
                </a:extLst>
              </p:cNvPr>
              <p:cNvSpPr txBox="1"/>
              <p:nvPr/>
            </p:nvSpPr>
            <p:spPr>
              <a:xfrm>
                <a:off x="3592146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Einfaches Programm</a:t>
                </a:r>
              </a:p>
            </p:txBody>
          </p:sp>
          <p:grpSp>
            <p:nvGrpSpPr>
              <p:cNvPr id="42" name="Gruppieren 41">
                <a:extLst>
                  <a:ext uri="{FF2B5EF4-FFF2-40B4-BE49-F238E27FC236}">
                    <a16:creationId xmlns:a16="http://schemas.microsoft.com/office/drawing/2014/main" id="{6B7D28B1-21B7-0552-FA81-62C441E65D13}"/>
                  </a:ext>
                </a:extLst>
              </p:cNvPr>
              <p:cNvGrpSpPr/>
              <p:nvPr/>
            </p:nvGrpSpPr>
            <p:grpSpPr>
              <a:xfrm>
                <a:off x="4501003" y="15570712"/>
                <a:ext cx="4715268" cy="5669848"/>
                <a:chOff x="4368442" y="15463274"/>
                <a:chExt cx="4715268" cy="566984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D19FDE52-7C5B-443D-DDD3-5F4E941622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=2?</m:t>
                            </m:r>
                          </m:oMath>
                        </m:oMathPara>
                      </a14:m>
                      <a:endParaRPr lang="de-DE" sz="3200" noProof="0" dirty="0"/>
                    </a:p>
                  </p:txBody>
                </p:sp>
              </mc:Choice>
              <mc:Fallback xmlns="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C26C9939-75AF-58B9-467C-E24C60F8083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3" name="Gerade Verbindung mit Pfeil 32">
                  <a:extLst>
                    <a:ext uri="{FF2B5EF4-FFF2-40B4-BE49-F238E27FC236}">
                      <a16:creationId xmlns:a16="http://schemas.microsoft.com/office/drawing/2014/main" id="{DA5FBF10-25A4-BA8F-8B53-FBF0E2E59859}"/>
                    </a:ext>
                  </a:extLst>
                </p:cNvPr>
                <p:cNvCxnSpPr>
                  <a:cxnSpLocks/>
                  <a:stCxn id="32" idx="2"/>
                  <a:endCxn id="35" idx="0"/>
                </p:cNvCxnSpPr>
                <p:nvPr/>
              </p:nvCxnSpPr>
              <p:spPr>
                <a:xfrm flipH="1">
                  <a:off x="5146624" y="17928044"/>
                  <a:ext cx="1556365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Gerade Verbindung mit Pfeil 33">
                  <a:extLst>
                    <a:ext uri="{FF2B5EF4-FFF2-40B4-BE49-F238E27FC236}">
                      <a16:creationId xmlns:a16="http://schemas.microsoft.com/office/drawing/2014/main" id="{F9225269-8255-CAF2-0239-0475644D3EE3}"/>
                    </a:ext>
                  </a:extLst>
                </p:cNvPr>
                <p:cNvCxnSpPr>
                  <a:cxnSpLocks/>
                  <a:stCxn id="32" idx="2"/>
                  <a:endCxn id="37" idx="0"/>
                </p:cNvCxnSpPr>
                <p:nvPr/>
              </p:nvCxnSpPr>
              <p:spPr>
                <a:xfrm>
                  <a:off x="6702989" y="17928044"/>
                  <a:ext cx="1602538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Flussdiagramm: Prozess 34">
                  <a:extLst>
                    <a:ext uri="{FF2B5EF4-FFF2-40B4-BE49-F238E27FC236}">
                      <a16:creationId xmlns:a16="http://schemas.microsoft.com/office/drawing/2014/main" id="{900CC915-9609-9F43-C62B-48707525BDDD}"/>
                    </a:ext>
                  </a:extLst>
                </p:cNvPr>
                <p:cNvSpPr/>
                <p:nvPr/>
              </p:nvSpPr>
              <p:spPr>
                <a:xfrm>
                  <a:off x="4368442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A</a:t>
                  </a:r>
                </a:p>
              </p:txBody>
            </p:sp>
            <p:sp>
              <p:nvSpPr>
                <p:cNvPr id="37" name="Flussdiagramm: Prozess 36">
                  <a:extLst>
                    <a:ext uri="{FF2B5EF4-FFF2-40B4-BE49-F238E27FC236}">
                      <a16:creationId xmlns:a16="http://schemas.microsoft.com/office/drawing/2014/main" id="{0CF66219-7922-BB81-9A78-4C0542AD27BA}"/>
                    </a:ext>
                  </a:extLst>
                </p:cNvPr>
                <p:cNvSpPr/>
                <p:nvPr/>
              </p:nvSpPr>
              <p:spPr>
                <a:xfrm>
                  <a:off x="7527345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B</a:t>
                  </a:r>
                </a:p>
              </p:txBody>
            </p:sp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5B09A40-58DE-8852-8AD9-664C8D8573B6}"/>
                    </a:ext>
                  </a:extLst>
                </p:cNvPr>
                <p:cNvSpPr txBox="1"/>
                <p:nvPr/>
              </p:nvSpPr>
              <p:spPr>
                <a:xfrm>
                  <a:off x="5060169" y="18379086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88C75A4D-997C-5DA2-8108-5A24AE55B1B9}"/>
                    </a:ext>
                  </a:extLst>
                </p:cNvPr>
                <p:cNvSpPr txBox="1"/>
                <p:nvPr/>
              </p:nvSpPr>
              <p:spPr>
                <a:xfrm>
                  <a:off x="7558540" y="18379086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</p:grpSp>
      </p:grp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4FB8CF51-6D8C-2895-6594-F9F564AF063F}"/>
              </a:ext>
            </a:extLst>
          </p:cNvPr>
          <p:cNvCxnSpPr>
            <a:cxnSpLocks/>
          </p:cNvCxnSpPr>
          <p:nvPr/>
        </p:nvCxnSpPr>
        <p:spPr>
          <a:xfrm rot="10800000">
            <a:off x="23977484" y="13125450"/>
            <a:ext cx="1054216" cy="6286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0FEEDB5D-7AC3-544A-779A-0C2C2F10FDF8}"/>
              </a:ext>
            </a:extLst>
          </p:cNvPr>
          <p:cNvSpPr txBox="1"/>
          <p:nvPr/>
        </p:nvSpPr>
        <p:spPr>
          <a:xfrm>
            <a:off x="25239127" y="13354519"/>
            <a:ext cx="3896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unwahrscheinliches</a:t>
            </a:r>
            <a:r>
              <a:rPr lang="en-DE" sz="2800" dirty="0"/>
              <a:t> </a:t>
            </a:r>
            <a:r>
              <a:rPr lang="en-DE" sz="2800" dirty="0" err="1"/>
              <a:t>Ereignis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858281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94E8-5179-6493-62D8-42759DE4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5">
            <a:extLst>
              <a:ext uri="{FF2B5EF4-FFF2-40B4-BE49-F238E27FC236}">
                <a16:creationId xmlns:a16="http://schemas.microsoft.com/office/drawing/2014/main" id="{F4EE1B0C-ACE5-999A-F220-52202D45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3373" y="5601156"/>
            <a:ext cx="27101911" cy="363986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2FE0D0C-F530-D635-CE97-0F18A38F9FC4}"/>
              </a:ext>
            </a:extLst>
          </p:cNvPr>
          <p:cNvSpPr txBox="1"/>
          <p:nvPr/>
        </p:nvSpPr>
        <p:spPr>
          <a:xfrm>
            <a:off x="2502876" y="8906955"/>
            <a:ext cx="12635695" cy="2170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1. </a:t>
            </a:r>
            <a:r>
              <a:rPr lang="en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Parameter </a:t>
            </a:r>
            <a:r>
              <a:rPr lang="en-DE" sz="4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wählen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, dessen Werte sich nicht statisch bestimmen lassen.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0F727B9-5A1F-B805-05C1-AEB729D5EA9E}"/>
              </a:ext>
            </a:extLst>
          </p:cNvPr>
          <p:cNvSpPr txBox="1"/>
          <p:nvPr/>
        </p:nvSpPr>
        <p:spPr>
          <a:xfrm>
            <a:off x="2502878" y="18050497"/>
            <a:ext cx="12635695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2. 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de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umulative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Verteilungsfunktion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generieren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DE" sz="4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EE31AE0-C03C-65C2-EED5-AEA35B133799}"/>
              </a:ext>
            </a:extLst>
          </p:cNvPr>
          <p:cNvSpPr txBox="1"/>
          <p:nvPr/>
        </p:nvSpPr>
        <p:spPr>
          <a:xfrm>
            <a:off x="2503551" y="27194039"/>
            <a:ext cx="12634347" cy="327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3. Über die Inversionsmethode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wird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der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Parameter gemäß der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zugeordneten Wahrscheinlichkeitsdichtefunktion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verteilt.</a:t>
            </a:r>
            <a:endParaRPr lang="en-DE" sz="4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F06C415-6384-43A3-48C0-D2CE0BB134CF}"/>
              </a:ext>
            </a:extLst>
          </p:cNvPr>
          <p:cNvSpPr txBox="1"/>
          <p:nvPr/>
        </p:nvSpPr>
        <p:spPr>
          <a:xfrm>
            <a:off x="2501911" y="33880299"/>
            <a:ext cx="24885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4. Da wir Kontrolle über die Verteilung der Zukunftsvariable haben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können wir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festlegen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, dass bestimmte Intervalle/Werte besonders wahrscheinlich sind.</a:t>
            </a:r>
          </a:p>
        </p:txBody>
      </p:sp>
      <p:pic>
        <p:nvPicPr>
          <p:cNvPr id="28" name="Grafik 27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5E7CDE68-3482-B800-0979-65C66CB53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463" y="25333847"/>
            <a:ext cx="7194121" cy="699910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0" name="Grafik 2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3A7CB72-0478-DFA1-A273-0B189FC98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5820" y="16053730"/>
            <a:ext cx="7195764" cy="7000701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7" name="Grafik 36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51342C02-6E53-50BB-7C65-DCF2DACE78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1947895" y="37164082"/>
            <a:ext cx="6530314" cy="3489308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271C6B2-D673-3DEA-20F7-F88D9F37CC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24887" y="6210317"/>
            <a:ext cx="5875452" cy="7563998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0" name="Grafik 39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C8558980-562D-4BDC-6AE8-B328F60CE7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8576492" y="37164082"/>
            <a:ext cx="6530314" cy="3489308"/>
          </a:xfrm>
          <a:prstGeom prst="rect">
            <a:avLst/>
          </a:prstGeom>
        </p:spPr>
      </p:pic>
      <p:pic>
        <p:nvPicPr>
          <p:cNvPr id="41" name="Grafik 40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C7A27E25-B127-6AB8-9978-C7C37BDE13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15054689" y="37164082"/>
            <a:ext cx="6530314" cy="3489308"/>
          </a:xfrm>
          <a:prstGeom prst="rect">
            <a:avLst/>
          </a:prstGeom>
        </p:spPr>
      </p:pic>
      <p:pic>
        <p:nvPicPr>
          <p:cNvPr id="42" name="Grafik 41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A41FAF5B-8B61-E57F-A79E-8173E00910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42" r="17881"/>
          <a:stretch>
            <a:fillRect/>
          </a:stretch>
        </p:blipFill>
        <p:spPr>
          <a:xfrm>
            <a:off x="21762613" y="37164082"/>
            <a:ext cx="6530314" cy="3489308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7BE9613-0483-BCDB-83D7-5FF2F44EC630}"/>
              </a:ext>
            </a:extLst>
          </p:cNvPr>
          <p:cNvGrpSpPr/>
          <p:nvPr/>
        </p:nvGrpSpPr>
        <p:grpSpPr>
          <a:xfrm>
            <a:off x="0" y="-64708"/>
            <a:ext cx="30275212" cy="3409387"/>
            <a:chOff x="0" y="-64708"/>
            <a:chExt cx="30275212" cy="3409387"/>
          </a:xfrm>
        </p:grpSpPr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78F2813E-5402-3E04-F39E-B4C2A1C1A95A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13D2C225-DD12-8D48-BC68-69D4FCC930A1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371E1D1E-91A8-1A8E-7200-F9BE214E55D5}"/>
              </a:ext>
            </a:extLst>
          </p:cNvPr>
          <p:cNvSpPr txBox="1"/>
          <p:nvPr/>
        </p:nvSpPr>
        <p:spPr>
          <a:xfrm>
            <a:off x="-7524415" y="6135298"/>
            <a:ext cx="27101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7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Funktionsweise</a:t>
            </a:r>
            <a:endParaRPr lang="de-DE" sz="7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A610C86B-7CB6-7D8D-802C-57093A03D9ED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353CF0-5103-CA58-378A-3EE72C08424F}"/>
              </a:ext>
            </a:extLst>
          </p:cNvPr>
          <p:cNvSpPr txBox="1"/>
          <p:nvPr/>
        </p:nvSpPr>
        <p:spPr>
          <a:xfrm>
            <a:off x="2957358" y="38525823"/>
            <a:ext cx="24099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4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TODO: </a:t>
            </a:r>
            <a:r>
              <a:rPr lang="en-DE" sz="48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Verschiedene</a:t>
            </a:r>
            <a:r>
              <a:rPr lang="en-DE" sz="4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DE" sz="48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Wahrscheinlichkeitsdichtefunktionen</a:t>
            </a:r>
            <a:r>
              <a:rPr lang="en-DE" sz="48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DE" sz="480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darstellen</a:t>
            </a:r>
            <a:endParaRPr lang="de-DE" sz="48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4789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252</Words>
  <Application>Microsoft Office PowerPoint</Application>
  <PresentationFormat>Benutzerdefiniert</PresentationFormat>
  <Paragraphs>44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Segoe UI</vt:lpstr>
      <vt:lpstr>Segoe UI Black</vt:lpstr>
      <vt:lpstr>Segoe UI Light</vt:lpstr>
      <vt:lpstr>Office Theme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Morrison</dc:creator>
  <cp:lastModifiedBy>Paul Moritz Baumgartner</cp:lastModifiedBy>
  <cp:revision>221</cp:revision>
  <dcterms:created xsi:type="dcterms:W3CDTF">2019-04-03T04:48:47Z</dcterms:created>
  <dcterms:modified xsi:type="dcterms:W3CDTF">2026-02-20T14:49:25Z</dcterms:modified>
</cp:coreProperties>
</file>