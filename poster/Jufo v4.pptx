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60" r:id="rId5"/>
    <p:sldId id="259" r:id="rId6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F6C34F-2DC2-B054-F9B5-BE8EDC4A1B09}" name="Paul Moritz Baumgartner" initials="PB" userId="S::Paul.2299@mariano-josephinum.net::fa8d80c5-339a-482e-ba3c-1cec7fa698f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B5B6"/>
    <a:srgbClr val="E74141"/>
    <a:srgbClr val="BE1818"/>
    <a:srgbClr val="262626"/>
    <a:srgbClr val="662D91"/>
    <a:srgbClr val="F68B1F"/>
    <a:srgbClr val="EFEFEF"/>
    <a:srgbClr val="4A148C"/>
    <a:srgbClr val="263238"/>
    <a:srgbClr val="006A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8" autoAdjust="0"/>
  </p:normalViewPr>
  <p:slideViewPr>
    <p:cSldViewPr snapToGrid="0">
      <p:cViewPr varScale="1">
        <p:scale>
          <a:sx n="18" d="100"/>
          <a:sy n="18" d="100"/>
        </p:scale>
        <p:origin x="3144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2" y="7005156"/>
            <a:ext cx="25733931" cy="14902051"/>
          </a:xfrm>
        </p:spPr>
        <p:txBody>
          <a:bodyPr anchor="b"/>
          <a:lstStyle>
            <a:lvl1pPr algn="ctr">
              <a:defRPr sz="198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8"/>
            <a:ext cx="22706410" cy="10334331"/>
          </a:xfrm>
        </p:spPr>
        <p:txBody>
          <a:bodyPr/>
          <a:lstStyle>
            <a:lvl1pPr marL="0" indent="0" algn="ctr">
              <a:buNone/>
              <a:defRPr sz="7945"/>
            </a:lvl1pPr>
            <a:lvl2pPr marL="1513636" indent="0" algn="ctr">
              <a:buNone/>
              <a:defRPr sz="6621"/>
            </a:lvl2pPr>
            <a:lvl3pPr marL="3027273" indent="0" algn="ctr">
              <a:buNone/>
              <a:defRPr sz="5959"/>
            </a:lvl3pPr>
            <a:lvl4pPr marL="4540910" indent="0" algn="ctr">
              <a:buNone/>
              <a:defRPr sz="5296"/>
            </a:lvl4pPr>
            <a:lvl5pPr marL="6054547" indent="0" algn="ctr">
              <a:buNone/>
              <a:defRPr sz="5296"/>
            </a:lvl5pPr>
            <a:lvl6pPr marL="7568183" indent="0" algn="ctr">
              <a:buNone/>
              <a:defRPr sz="5296"/>
            </a:lvl6pPr>
            <a:lvl7pPr marL="9081820" indent="0" algn="ctr">
              <a:buNone/>
              <a:defRPr sz="5296"/>
            </a:lvl7pPr>
            <a:lvl8pPr marL="10595456" indent="0" algn="ctr">
              <a:buNone/>
              <a:defRPr sz="5296"/>
            </a:lvl8pPr>
            <a:lvl9pPr marL="12109093" indent="0" algn="ctr">
              <a:buNone/>
              <a:defRPr sz="5296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7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00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30"/>
            <a:ext cx="26112371" cy="17805173"/>
          </a:xfrm>
        </p:spPr>
        <p:txBody>
          <a:bodyPr anchor="b"/>
          <a:lstStyle>
            <a:lvl1pPr>
              <a:defRPr sz="198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7"/>
            <a:ext cx="26112371" cy="9363320"/>
          </a:xfrm>
        </p:spPr>
        <p:txBody>
          <a:bodyPr/>
          <a:lstStyle>
            <a:lvl1pPr marL="0" indent="0">
              <a:buNone/>
              <a:defRPr sz="7945">
                <a:solidFill>
                  <a:schemeClr val="tx1"/>
                </a:solidFill>
              </a:defRPr>
            </a:lvl1pPr>
            <a:lvl2pPr marL="1513636" indent="0">
              <a:buNone/>
              <a:defRPr sz="6621">
                <a:solidFill>
                  <a:schemeClr val="tx1">
                    <a:tint val="75000"/>
                  </a:schemeClr>
                </a:solidFill>
              </a:defRPr>
            </a:lvl2pPr>
            <a:lvl3pPr marL="3027273" indent="0">
              <a:buNone/>
              <a:defRPr sz="5959">
                <a:solidFill>
                  <a:schemeClr val="tx1">
                    <a:tint val="75000"/>
                  </a:schemeClr>
                </a:solidFill>
              </a:defRPr>
            </a:lvl3pPr>
            <a:lvl4pPr marL="454091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4pPr>
            <a:lvl5pPr marL="6054547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5pPr>
            <a:lvl6pPr marL="756818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6pPr>
            <a:lvl7pPr marL="9081820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7pPr>
            <a:lvl8pPr marL="10595456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8pPr>
            <a:lvl9pPr marL="1210909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68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6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278913"/>
            <a:ext cx="26112371" cy="82734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1"/>
            <a:ext cx="12807832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1"/>
            <a:ext cx="12870909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636" indent="0">
              <a:buNone/>
              <a:defRPr sz="6621" b="1"/>
            </a:lvl2pPr>
            <a:lvl3pPr marL="3027273" indent="0">
              <a:buNone/>
              <a:defRPr sz="5959" b="1"/>
            </a:lvl3pPr>
            <a:lvl4pPr marL="4540910" indent="0">
              <a:buNone/>
              <a:defRPr sz="5296" b="1"/>
            </a:lvl4pPr>
            <a:lvl5pPr marL="6054547" indent="0">
              <a:buNone/>
              <a:defRPr sz="5296" b="1"/>
            </a:lvl5pPr>
            <a:lvl6pPr marL="7568183" indent="0">
              <a:buNone/>
              <a:defRPr sz="5296" b="1"/>
            </a:lvl6pPr>
            <a:lvl7pPr marL="9081820" indent="0">
              <a:buNone/>
              <a:defRPr sz="5296" b="1"/>
            </a:lvl7pPr>
            <a:lvl8pPr marL="10595456" indent="0">
              <a:buNone/>
              <a:defRPr sz="5296" b="1"/>
            </a:lvl8pPr>
            <a:lvl9pPr marL="12109093" indent="0">
              <a:buNone/>
              <a:defRPr sz="5296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81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2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16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10" y="6162959"/>
            <a:ext cx="15326827" cy="30418415"/>
          </a:xfrm>
        </p:spPr>
        <p:txBody>
          <a:bodyPr/>
          <a:lstStyle>
            <a:lvl1pPr>
              <a:defRPr sz="10594"/>
            </a:lvl1pPr>
            <a:lvl2pPr>
              <a:defRPr sz="9270"/>
            </a:lvl2pPr>
            <a:lvl3pPr>
              <a:defRPr sz="7945"/>
            </a:lvl3pPr>
            <a:lvl4pPr>
              <a:defRPr sz="6621"/>
            </a:lvl4pPr>
            <a:lvl5pPr>
              <a:defRPr sz="6621"/>
            </a:lvl5pPr>
            <a:lvl6pPr>
              <a:defRPr sz="6621"/>
            </a:lvl6pPr>
            <a:lvl7pPr>
              <a:defRPr sz="6621"/>
            </a:lvl7pPr>
            <a:lvl8pPr>
              <a:defRPr sz="6621"/>
            </a:lvl8pPr>
            <a:lvl9pPr>
              <a:defRPr sz="662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3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10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4"/>
            </a:lvl1pPr>
            <a:lvl2pPr marL="1513636" indent="0">
              <a:buNone/>
              <a:defRPr sz="9270"/>
            </a:lvl2pPr>
            <a:lvl3pPr marL="3027273" indent="0">
              <a:buNone/>
              <a:defRPr sz="7945"/>
            </a:lvl3pPr>
            <a:lvl4pPr marL="4540910" indent="0">
              <a:buNone/>
              <a:defRPr sz="6621"/>
            </a:lvl4pPr>
            <a:lvl5pPr marL="6054547" indent="0">
              <a:buNone/>
              <a:defRPr sz="6621"/>
            </a:lvl5pPr>
            <a:lvl6pPr marL="7568183" indent="0">
              <a:buNone/>
              <a:defRPr sz="6621"/>
            </a:lvl6pPr>
            <a:lvl7pPr marL="9081820" indent="0">
              <a:buNone/>
              <a:defRPr sz="6621"/>
            </a:lvl7pPr>
            <a:lvl8pPr marL="10595456" indent="0">
              <a:buNone/>
              <a:defRPr sz="6621"/>
            </a:lvl8pPr>
            <a:lvl9pPr marL="12109093" indent="0">
              <a:buNone/>
              <a:defRPr sz="662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6"/>
            </a:lvl1pPr>
            <a:lvl2pPr marL="1513636" indent="0">
              <a:buNone/>
              <a:defRPr sz="4635"/>
            </a:lvl2pPr>
            <a:lvl3pPr marL="3027273" indent="0">
              <a:buNone/>
              <a:defRPr sz="3973"/>
            </a:lvl3pPr>
            <a:lvl4pPr marL="4540910" indent="0">
              <a:buNone/>
              <a:defRPr sz="3311"/>
            </a:lvl4pPr>
            <a:lvl5pPr marL="6054547" indent="0">
              <a:buNone/>
              <a:defRPr sz="3311"/>
            </a:lvl5pPr>
            <a:lvl6pPr marL="7568183" indent="0">
              <a:buNone/>
              <a:defRPr sz="3311"/>
            </a:lvl6pPr>
            <a:lvl7pPr marL="9081820" indent="0">
              <a:buNone/>
              <a:defRPr sz="3311"/>
            </a:lvl7pPr>
            <a:lvl8pPr marL="10595456" indent="0">
              <a:buNone/>
              <a:defRPr sz="3311"/>
            </a:lvl8pPr>
            <a:lvl9pPr marL="12109093" indent="0">
              <a:buNone/>
              <a:defRPr sz="331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1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2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2" y="2278905"/>
            <a:ext cx="6528093" cy="3627421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5"/>
            <a:ext cx="19205838" cy="3627421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0B498-9D4D-4FAD-891F-E57FF8B5A02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1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2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2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0B498-9D4D-4FAD-891F-E57FF8B5A02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70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513E7-4515-4082-A960-D4704025B30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8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273" rtl="0" eaLnBrk="1" latinLnBrk="0" hangingPunct="1">
        <a:lnSpc>
          <a:spcPct val="90000"/>
        </a:lnSpc>
        <a:spcBef>
          <a:spcPct val="0"/>
        </a:spcBef>
        <a:buNone/>
        <a:defRPr sz="14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19" indent="-756819" algn="l" defTabSz="3027273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0" kern="1200">
          <a:solidFill>
            <a:schemeClr val="tx1"/>
          </a:solidFill>
          <a:latin typeface="+mn-lt"/>
          <a:ea typeface="+mn-ea"/>
          <a:cs typeface="+mn-cs"/>
        </a:defRPr>
      </a:lvl1pPr>
      <a:lvl2pPr marL="227045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5" kern="1200">
          <a:solidFill>
            <a:schemeClr val="tx1"/>
          </a:solidFill>
          <a:latin typeface="+mn-lt"/>
          <a:ea typeface="+mn-ea"/>
          <a:cs typeface="+mn-cs"/>
        </a:defRPr>
      </a:lvl2pPr>
      <a:lvl3pPr marL="378409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1" kern="1200">
          <a:solidFill>
            <a:schemeClr val="tx1"/>
          </a:solidFill>
          <a:latin typeface="+mn-lt"/>
          <a:ea typeface="+mn-ea"/>
          <a:cs typeface="+mn-cs"/>
        </a:defRPr>
      </a:lvl3pPr>
      <a:lvl4pPr marL="5297728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81136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8325001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838639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1352275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865912" indent="-756819" algn="l" defTabSz="30272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1pPr>
      <a:lvl2pPr marL="151363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2pPr>
      <a:lvl3pPr marL="302727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3pPr>
      <a:lvl4pPr marL="454091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4pPr>
      <a:lvl5pPr marL="6054547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5pPr>
      <a:lvl6pPr marL="756818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6pPr>
      <a:lvl7pPr marL="9081820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7pPr>
      <a:lvl8pPr marL="10595456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8pPr>
      <a:lvl9pPr marL="12109093" algn="l" defTabSz="3027273" rtl="0" eaLnBrk="1" latinLnBrk="0" hangingPunct="1">
        <a:defRPr sz="5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09CDE-92D7-6F78-22D2-124D116D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01FAC1A-D6A0-E798-6E0C-CC95B15BC29F}"/>
              </a:ext>
            </a:extLst>
          </p:cNvPr>
          <p:cNvGrpSpPr/>
          <p:nvPr/>
        </p:nvGrpSpPr>
        <p:grpSpPr>
          <a:xfrm>
            <a:off x="-1" y="-64708"/>
            <a:ext cx="30275213" cy="3409387"/>
            <a:chOff x="0" y="-64708"/>
            <a:chExt cx="30275212" cy="340938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32C207-C562-A2C6-C19E-B4949A621351}"/>
                </a:ext>
              </a:extLst>
            </p:cNvPr>
            <p:cNvSpPr>
              <a:spLocks/>
            </p:cNvSpPr>
            <p:nvPr/>
          </p:nvSpPr>
          <p:spPr>
            <a:xfrm>
              <a:off x="0" y="-64708"/>
              <a:ext cx="30275212" cy="3409387"/>
            </a:xfrm>
            <a:prstGeom prst="rect">
              <a:avLst/>
            </a:prstGeom>
            <a:solidFill>
              <a:srgbClr val="E7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03" noProof="0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32756E1-0112-7209-4BE5-CD54660B67FD}"/>
                </a:ext>
              </a:extLst>
            </p:cNvPr>
            <p:cNvSpPr>
              <a:spLocks/>
            </p:cNvSpPr>
            <p:nvPr/>
          </p:nvSpPr>
          <p:spPr>
            <a:xfrm>
              <a:off x="944436" y="364876"/>
              <a:ext cx="28559786" cy="2241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de-DE" sz="11999" b="1" noProof="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Wie sicher ist Ihre Software wirklich?</a:t>
              </a:r>
              <a:endParaRPr lang="de-DE" sz="11999" noProof="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40B08C8-BDEE-E950-3167-3D07CF0D53B1}"/>
              </a:ext>
            </a:extLst>
          </p:cNvPr>
          <p:cNvSpPr txBox="1"/>
          <p:nvPr/>
        </p:nvSpPr>
        <p:spPr>
          <a:xfrm>
            <a:off x="1313032" y="5235685"/>
            <a:ext cx="27822593" cy="44521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432502" tIns="432502" rIns="432502" bIns="43250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Problem: 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Aktuelle Softwareverschleierungsmethoden (opake Prädikate) sind nicht resistent gegenüber manchen Angriffsmethoden (symbolischer Ausführung)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 Möglichkeit, Software zu verstehen &amp; zu rekonstruieren</a:t>
            </a:r>
          </a:p>
          <a:p>
            <a:pPr marL="571460" indent="-57146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~15 Mrd. Euro an Umsatz gehen jährlich in der EU durch Reverse Engineering/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Cracking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 verloren [1]</a:t>
            </a:r>
            <a:endParaRPr lang="de-DE" sz="4000" noProof="0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52097C-C854-5255-1CF2-F0952302D6BB}"/>
              </a:ext>
            </a:extLst>
          </p:cNvPr>
          <p:cNvSpPr txBox="1"/>
          <p:nvPr/>
        </p:nvSpPr>
        <p:spPr>
          <a:xfrm>
            <a:off x="1770200" y="3811458"/>
            <a:ext cx="25287464" cy="105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en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P: Probabilistische opake Prädikate gegen symbolische Ausführung</a:t>
            </a:r>
          </a:p>
        </p:txBody>
      </p:sp>
      <p:sp>
        <p:nvSpPr>
          <p:cNvPr id="15" name="TextBox 31">
            <a:extLst>
              <a:ext uri="{FF2B5EF4-FFF2-40B4-BE49-F238E27FC236}">
                <a16:creationId xmlns:a16="http://schemas.microsoft.com/office/drawing/2014/main" id="{3991CC1D-BE83-02E0-DB26-F7401DE6C385}"/>
              </a:ext>
            </a:extLst>
          </p:cNvPr>
          <p:cNvSpPr txBox="1"/>
          <p:nvPr/>
        </p:nvSpPr>
        <p:spPr>
          <a:xfrm>
            <a:off x="1313030" y="21561017"/>
            <a:ext cx="13824574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1: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mediane Laufzeitimpakt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neuen 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Obfuskation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ist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gering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 Die Varianz ist allerdings groß.</a:t>
            </a: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6D9D6EC9-71CC-AAB9-7828-203668383F95}"/>
              </a:ext>
            </a:extLst>
          </p:cNvPr>
          <p:cNvSpPr txBox="1"/>
          <p:nvPr/>
        </p:nvSpPr>
        <p:spPr>
          <a:xfrm>
            <a:off x="15137604" y="21561018"/>
            <a:ext cx="13998019" cy="274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2: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Trotz der geringen Wahrscheinlichkeit, dass die POP-Prädikate den falschen Wert annehmen,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funktionieren alle Programme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</a:t>
            </a:r>
            <a:endParaRPr lang="de-DE" sz="4000" noProof="0" dirty="0">
              <a:latin typeface="Segoe UI Black" panose="020B0A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3B3CE45-0AA7-B307-3263-E4E6D7DDC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7228" y="24476622"/>
            <a:ext cx="9362621" cy="7802184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E62CEB89-CBD4-DD55-75DA-E503722A21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55302" y="24476622"/>
            <a:ext cx="9362621" cy="7802184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A593D394-D4DC-B120-FE96-AC385AD8F1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98583" y="34587396"/>
            <a:ext cx="9362621" cy="7802184"/>
          </a:xfrm>
          <a:prstGeom prst="rect">
            <a:avLst/>
          </a:prstGeom>
          <a:effectLst>
            <a:outerShdw blurRad="723900" dist="114300" dir="2700000" algn="ctr" rotWithShape="0">
              <a:schemeClr val="tx1">
                <a:alpha val="10000"/>
              </a:schemeClr>
            </a:outerShdw>
          </a:effectLst>
        </p:spPr>
      </p:pic>
      <p:sp>
        <p:nvSpPr>
          <p:cNvPr id="30" name="TextBox 31">
            <a:extLst>
              <a:ext uri="{FF2B5EF4-FFF2-40B4-BE49-F238E27FC236}">
                <a16:creationId xmlns:a16="http://schemas.microsoft.com/office/drawing/2014/main" id="{1E1F6667-492E-5B92-6619-F7314B41D794}"/>
              </a:ext>
            </a:extLst>
          </p:cNvPr>
          <p:cNvSpPr txBox="1"/>
          <p:nvPr/>
        </p:nvSpPr>
        <p:spPr>
          <a:xfrm>
            <a:off x="1313030" y="32425458"/>
            <a:ext cx="13824574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3: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mediane Speicherimpakt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neuen </a:t>
            </a:r>
            <a:r>
              <a:rPr lang="de-DE" sz="4000" noProof="0" dirty="0" err="1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Obfuskation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 ist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gering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. Die Varianz ist allerdings groß.</a:t>
            </a:r>
          </a:p>
        </p:txBody>
      </p:sp>
      <p:sp>
        <p:nvSpPr>
          <p:cNvPr id="40" name="TextBox 31">
            <a:extLst>
              <a:ext uri="{FF2B5EF4-FFF2-40B4-BE49-F238E27FC236}">
                <a16:creationId xmlns:a16="http://schemas.microsoft.com/office/drawing/2014/main" id="{4C7480C9-BC8F-36AC-8E1D-84396F33223A}"/>
              </a:ext>
            </a:extLst>
          </p:cNvPr>
          <p:cNvSpPr txBox="1"/>
          <p:nvPr/>
        </p:nvSpPr>
        <p:spPr>
          <a:xfrm>
            <a:off x="15290417" y="32484366"/>
            <a:ext cx="14890111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noProof="0" dirty="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Ergebnis 4: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Der </a:t>
            </a: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eingefügte Programmcode unterscheidet sich statistisch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von regulären Programmen.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960482E-9C56-42B6-E3AC-AD7EAE97B9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15793" y="34587396"/>
            <a:ext cx="13192289" cy="7695502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DCE1A990-AFCA-8C88-7667-633943EBEBC5}"/>
              </a:ext>
            </a:extLst>
          </p:cNvPr>
          <p:cNvGrpSpPr/>
          <p:nvPr/>
        </p:nvGrpSpPr>
        <p:grpSpPr>
          <a:xfrm>
            <a:off x="1313033" y="10422186"/>
            <a:ext cx="27852588" cy="10751095"/>
            <a:chOff x="1313033" y="10650786"/>
            <a:chExt cx="27852588" cy="1075109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90DA43D-5F6F-4B02-44F7-ED04CB4A110B}"/>
                </a:ext>
              </a:extLst>
            </p:cNvPr>
            <p:cNvSpPr>
              <a:spLocks/>
            </p:cNvSpPr>
            <p:nvPr/>
          </p:nvSpPr>
          <p:spPr>
            <a:xfrm>
              <a:off x="1313033" y="10650786"/>
              <a:ext cx="27852588" cy="107510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23900" dist="1143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200" noProof="0" dirty="0"/>
            </a:p>
          </p:txBody>
        </p:sp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D8109F88-7AD8-F3F3-8BCF-A03F927B8854}"/>
                </a:ext>
              </a:extLst>
            </p:cNvPr>
            <p:cNvGrpSpPr/>
            <p:nvPr/>
          </p:nvGrpSpPr>
          <p:grpSpPr>
            <a:xfrm>
              <a:off x="3326707" y="10695004"/>
              <a:ext cx="25808916" cy="10548983"/>
              <a:chOff x="3326707" y="10695004"/>
              <a:chExt cx="25808916" cy="10548983"/>
            </a:xfrm>
          </p:grpSpPr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D76304AD-446C-8600-910C-01F1EBFFD72A}"/>
                  </a:ext>
                </a:extLst>
              </p:cNvPr>
              <p:cNvGrpSpPr/>
              <p:nvPr/>
            </p:nvGrpSpPr>
            <p:grpSpPr>
              <a:xfrm>
                <a:off x="3326707" y="10695004"/>
                <a:ext cx="24716919" cy="10548983"/>
                <a:chOff x="3803340" y="10691577"/>
                <a:chExt cx="24716919" cy="10548983"/>
              </a:xfrm>
            </p:grpSpPr>
            <p:grpSp>
              <p:nvGrpSpPr>
                <p:cNvPr id="7" name="Gruppieren 6">
                  <a:extLst>
                    <a:ext uri="{FF2B5EF4-FFF2-40B4-BE49-F238E27FC236}">
                      <a16:creationId xmlns:a16="http://schemas.microsoft.com/office/drawing/2014/main" id="{BAABF62B-0624-B880-9EAA-18E0F16D5B5B}"/>
                    </a:ext>
                  </a:extLst>
                </p:cNvPr>
                <p:cNvGrpSpPr/>
                <p:nvPr/>
              </p:nvGrpSpPr>
              <p:grpSpPr>
                <a:xfrm>
                  <a:off x="11682780" y="10691577"/>
                  <a:ext cx="6247134" cy="10548983"/>
                  <a:chOff x="11682780" y="10691577"/>
                  <a:chExt cx="6247134" cy="10548983"/>
                </a:xfrm>
              </p:grpSpPr>
              <p:grpSp>
                <p:nvGrpSpPr>
                  <p:cNvPr id="64" name="Gruppieren 63">
                    <a:extLst>
                      <a:ext uri="{FF2B5EF4-FFF2-40B4-BE49-F238E27FC236}">
                        <a16:creationId xmlns:a16="http://schemas.microsoft.com/office/drawing/2014/main" id="{AE369276-41FB-2ED6-5B9C-401E1377C24C}"/>
                      </a:ext>
                    </a:extLst>
                  </p:cNvPr>
                  <p:cNvGrpSpPr/>
                  <p:nvPr/>
                </p:nvGrpSpPr>
                <p:grpSpPr>
                  <a:xfrm>
                    <a:off x="11682780" y="11495127"/>
                    <a:ext cx="6247134" cy="9745433"/>
                    <a:chOff x="11682780" y="11495127"/>
                    <a:chExt cx="6247134" cy="9745433"/>
                  </a:xfrm>
                </p:grpSpPr>
                <p:grpSp>
                  <p:nvGrpSpPr>
                    <p:cNvPr id="45" name="Gruppieren 44">
                      <a:extLst>
                        <a:ext uri="{FF2B5EF4-FFF2-40B4-BE49-F238E27FC236}">
                          <a16:creationId xmlns:a16="http://schemas.microsoft.com/office/drawing/2014/main" id="{A767E0F4-3913-4872-B50F-DC7B04FBEE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682780" y="11495127"/>
                      <a:ext cx="6247134" cy="9745433"/>
                      <a:chOff x="11682780" y="11495127"/>
                      <a:chExt cx="6247134" cy="9745433"/>
                    </a:xfrm>
                  </p:grpSpPr>
                  <p:grpSp>
                    <p:nvGrpSpPr>
                      <p:cNvPr id="44" name="Gruppieren 43">
                        <a:extLst>
                          <a:ext uri="{FF2B5EF4-FFF2-40B4-BE49-F238E27FC236}">
                            <a16:creationId xmlns:a16="http://schemas.microsoft.com/office/drawing/2014/main" id="{95E6654B-0A47-47CC-7408-473AE73BD66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682780" y="11495127"/>
                        <a:ext cx="6247134" cy="9745433"/>
                        <a:chOff x="11682780" y="11495127"/>
                        <a:chExt cx="6247134" cy="9745433"/>
                      </a:xfrm>
                    </p:grpSpPr>
                    <p:sp>
                      <p:nvSpPr>
                        <p:cNvPr id="51" name="Flussdiagramm: Verzweigung 50">
                          <a:extLst>
                            <a:ext uri="{FF2B5EF4-FFF2-40B4-BE49-F238E27FC236}">
                              <a16:creationId xmlns:a16="http://schemas.microsoft.com/office/drawing/2014/main" id="{683DC669-1EF7-2E41-FA93-746ABBB670C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820152" y="15570712"/>
                          <a:ext cx="2394349" cy="2464770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 sz="3200" noProof="0" dirty="0"/>
                        </a:p>
                      </p:txBody>
                    </p:sp>
                    <p:cxnSp>
                      <p:nvCxnSpPr>
                        <p:cNvPr id="52" name="Gerade Verbindung mit Pfeil 51">
                          <a:extLst>
                            <a:ext uri="{FF2B5EF4-FFF2-40B4-BE49-F238E27FC236}">
                              <a16:creationId xmlns:a16="http://schemas.microsoft.com/office/drawing/2014/main" id="{7108D119-CE35-29A6-92C1-900D085B6283}"/>
                            </a:ext>
                          </a:extLst>
                        </p:cNvPr>
                        <p:cNvCxnSpPr>
                          <a:cxnSpLocks/>
                          <a:stCxn id="51" idx="2"/>
                          <a:endCxn id="54" idx="0"/>
                        </p:cNvCxnSpPr>
                        <p:nvPr/>
                      </p:nvCxnSpPr>
                      <p:spPr>
                        <a:xfrm flipH="1">
                          <a:off x="12460962" y="18035482"/>
                          <a:ext cx="1556365" cy="1602539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3" name="Gerade Verbindung mit Pfeil 52">
                          <a:extLst>
                            <a:ext uri="{FF2B5EF4-FFF2-40B4-BE49-F238E27FC236}">
                              <a16:creationId xmlns:a16="http://schemas.microsoft.com/office/drawing/2014/main" id="{83130FE1-FFC9-7831-E3B2-BE2D259301E7}"/>
                            </a:ext>
                          </a:extLst>
                        </p:cNvPr>
                        <p:cNvCxnSpPr>
                          <a:cxnSpLocks/>
                          <a:stCxn id="51" idx="2"/>
                          <a:endCxn id="55" idx="0"/>
                        </p:cNvCxnSpPr>
                        <p:nvPr/>
                      </p:nvCxnSpPr>
                      <p:spPr>
                        <a:xfrm>
                          <a:off x="14017327" y="18035482"/>
                          <a:ext cx="1602538" cy="1602539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4" name="Flussdiagramm: Prozess 53">
                          <a:extLst>
                            <a:ext uri="{FF2B5EF4-FFF2-40B4-BE49-F238E27FC236}">
                              <a16:creationId xmlns:a16="http://schemas.microsoft.com/office/drawing/2014/main" id="{3626F3CE-A9A2-5073-6917-2C22F816E6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82780" y="19638021"/>
                          <a:ext cx="1556365" cy="1602539"/>
                        </a:xfrm>
                        <a:prstGeom prst="flowChartProcess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A</a:t>
                          </a:r>
                        </a:p>
                      </p:txBody>
                    </p:sp>
                    <p:sp>
                      <p:nvSpPr>
                        <p:cNvPr id="55" name="Flussdiagramm: Prozess 54">
                          <a:extLst>
                            <a:ext uri="{FF2B5EF4-FFF2-40B4-BE49-F238E27FC236}">
                              <a16:creationId xmlns:a16="http://schemas.microsoft.com/office/drawing/2014/main" id="{BE335687-FE06-5E95-D38F-F0EB8B0D9A5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841683" y="19638021"/>
                          <a:ext cx="1556365" cy="1602539"/>
                        </a:xfrm>
                        <a:prstGeom prst="flowChartProcess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B</a:t>
                          </a:r>
                        </a:p>
                      </p:txBody>
                    </p:sp>
                    <p:sp>
                      <p:nvSpPr>
                        <p:cNvPr id="56" name="Flussdiagramm: Verzweigung 55">
                          <a:extLst>
                            <a:ext uri="{FF2B5EF4-FFF2-40B4-BE49-F238E27FC236}">
                              <a16:creationId xmlns:a16="http://schemas.microsoft.com/office/drawing/2014/main" id="{594B6C5F-36CB-B82D-B689-4A7D5A0FE7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4398192" y="11495127"/>
                          <a:ext cx="2394349" cy="2464770"/>
                        </a:xfrm>
                        <a:prstGeom prst="flowChartDecision">
                          <a:avLst/>
                        </a:prstGeom>
                        <a:solidFill>
                          <a:srgbClr val="77B5B6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 sz="3200" noProof="0" dirty="0"/>
                        </a:p>
                      </p:txBody>
                    </p:sp>
                    <p:cxnSp>
                      <p:nvCxnSpPr>
                        <p:cNvPr id="57" name="Gerade Verbindung mit Pfeil 56">
                          <a:extLst>
                            <a:ext uri="{FF2B5EF4-FFF2-40B4-BE49-F238E27FC236}">
                              <a16:creationId xmlns:a16="http://schemas.microsoft.com/office/drawing/2014/main" id="{7DA4E526-E4BD-AA57-AE08-62504F841F3B}"/>
                            </a:ext>
                          </a:extLst>
                        </p:cNvPr>
                        <p:cNvCxnSpPr>
                          <a:cxnSpLocks/>
                          <a:stCxn id="56" idx="2"/>
                          <a:endCxn id="51" idx="0"/>
                        </p:cNvCxnSpPr>
                        <p:nvPr/>
                      </p:nvCxnSpPr>
                      <p:spPr>
                        <a:xfrm flipH="1">
                          <a:off x="14017327" y="13959897"/>
                          <a:ext cx="1578039" cy="1610815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8" name="Gerade Verbindung mit Pfeil 57">
                          <a:extLst>
                            <a:ext uri="{FF2B5EF4-FFF2-40B4-BE49-F238E27FC236}">
                              <a16:creationId xmlns:a16="http://schemas.microsoft.com/office/drawing/2014/main" id="{5941321B-888E-F69D-0D2D-30983AE201A9}"/>
                            </a:ext>
                          </a:extLst>
                        </p:cNvPr>
                        <p:cNvCxnSpPr>
                          <a:cxnSpLocks/>
                          <a:stCxn id="56" idx="2"/>
                          <a:endCxn id="59" idx="0"/>
                        </p:cNvCxnSpPr>
                        <p:nvPr/>
                      </p:nvCxnSpPr>
                      <p:spPr>
                        <a:xfrm>
                          <a:off x="15595367" y="13959897"/>
                          <a:ext cx="1556365" cy="1610815"/>
                        </a:xfrm>
                        <a:prstGeom prst="straightConnector1">
                          <a:avLst/>
                        </a:prstGeom>
                        <a:ln w="4445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9" name="Flussdiagramm: Prozess 58">
                          <a:extLst>
                            <a:ext uri="{FF2B5EF4-FFF2-40B4-BE49-F238E27FC236}">
                              <a16:creationId xmlns:a16="http://schemas.microsoft.com/office/drawing/2014/main" id="{A51EA3CF-FCCF-3ED7-E7A3-E3383FF618F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373549" y="15570712"/>
                          <a:ext cx="1556365" cy="1602539"/>
                        </a:xfrm>
                        <a:prstGeom prst="flowChartProcess">
                          <a:avLst/>
                        </a:prstGeom>
                        <a:solidFill>
                          <a:srgbClr val="E7414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de-DE" sz="16599" noProof="0" dirty="0"/>
                            <a:t>C</a:t>
                          </a:r>
                        </a:p>
                      </p:txBody>
                    </p:sp>
                  </p:grpSp>
                  <p:sp>
                    <p:nvSpPr>
                      <p:cNvPr id="63" name="Textfeld 62">
                        <a:extLst>
                          <a:ext uri="{FF2B5EF4-FFF2-40B4-BE49-F238E27FC236}">
                            <a16:creationId xmlns:a16="http://schemas.microsoft.com/office/drawing/2014/main" id="{92BA0295-365E-76CE-D131-9E492E8EBCC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684456" y="14373882"/>
                        <a:ext cx="1312324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de-DE" sz="2800" b="1" noProof="0" dirty="0"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100%</a:t>
                        </a:r>
                      </a:p>
                    </p:txBody>
                  </p:sp>
                  <p:sp>
                    <p:nvSpPr>
                      <p:cNvPr id="75" name="Textfeld 74">
                        <a:extLst>
                          <a:ext uri="{FF2B5EF4-FFF2-40B4-BE49-F238E27FC236}">
                            <a16:creationId xmlns:a16="http://schemas.microsoft.com/office/drawing/2014/main" id="{1B5B3DE3-92E3-BFAE-0902-B7BFC6B7224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493355" y="14373882"/>
                        <a:ext cx="1312324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de-DE" sz="2800" b="1" noProof="0" dirty="0"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0%</a:t>
                        </a:r>
                      </a:p>
                    </p:txBody>
                  </p:sp>
                </p:grpSp>
                <p:sp>
                  <p:nvSpPr>
                    <p:cNvPr id="82" name="Textfeld 81">
                      <a:extLst>
                        <a:ext uri="{FF2B5EF4-FFF2-40B4-BE49-F238E27FC236}">
                          <a16:creationId xmlns:a16="http://schemas.microsoft.com/office/drawing/2014/main" id="{58BE8BE3-91EF-402D-EB1B-DD8D282788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374507" y="18486524"/>
                      <a:ext cx="86482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4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wahr</a:t>
                      </a:r>
                    </a:p>
                  </p:txBody>
                </p:sp>
                <p:sp>
                  <p:nvSpPr>
                    <p:cNvPr id="83" name="Textfeld 82">
                      <a:extLst>
                        <a:ext uri="{FF2B5EF4-FFF2-40B4-BE49-F238E27FC236}">
                          <a16:creationId xmlns:a16="http://schemas.microsoft.com/office/drawing/2014/main" id="{4A90F985-9948-FF6E-3F3B-C43FA47F2F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871610" y="18486524"/>
                      <a:ext cx="106843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4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falsch</a:t>
                      </a:r>
                    </a:p>
                  </p:txBody>
                </p:sp>
              </p:grpSp>
              <p:sp>
                <p:nvSpPr>
                  <p:cNvPr id="29" name="Textfeld 28">
                    <a:extLst>
                      <a:ext uri="{FF2B5EF4-FFF2-40B4-BE49-F238E27FC236}">
                        <a16:creationId xmlns:a16="http://schemas.microsoft.com/office/drawing/2014/main" id="{66697333-9AE9-E800-4FA8-0010A0F9F0B0}"/>
                      </a:ext>
                    </a:extLst>
                  </p:cNvPr>
                  <p:cNvSpPr txBox="1"/>
                  <p:nvPr/>
                </p:nvSpPr>
                <p:spPr>
                  <a:xfrm>
                    <a:off x="11839401" y="10691577"/>
                    <a:ext cx="6064417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de-DE" sz="40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Obfuskiertes Programm</a:t>
                    </a:r>
                  </a:p>
                </p:txBody>
              </p:sp>
            </p:grpSp>
            <p:grpSp>
              <p:nvGrpSpPr>
                <p:cNvPr id="11" name="Gruppieren 10">
                  <a:extLst>
                    <a:ext uri="{FF2B5EF4-FFF2-40B4-BE49-F238E27FC236}">
                      <a16:creationId xmlns:a16="http://schemas.microsoft.com/office/drawing/2014/main" id="{8CCCA7C7-1098-D4DB-18AF-EFEDAEBB05E5}"/>
                    </a:ext>
                  </a:extLst>
                </p:cNvPr>
                <p:cNvGrpSpPr/>
                <p:nvPr/>
              </p:nvGrpSpPr>
              <p:grpSpPr>
                <a:xfrm>
                  <a:off x="18636566" y="10691577"/>
                  <a:ext cx="9883693" cy="10548983"/>
                  <a:chOff x="18636566" y="10691577"/>
                  <a:chExt cx="9883693" cy="10548983"/>
                </a:xfrm>
              </p:grpSpPr>
              <p:grpSp>
                <p:nvGrpSpPr>
                  <p:cNvPr id="8" name="Gruppieren 7">
                    <a:extLst>
                      <a:ext uri="{FF2B5EF4-FFF2-40B4-BE49-F238E27FC236}">
                        <a16:creationId xmlns:a16="http://schemas.microsoft.com/office/drawing/2014/main" id="{1E7AB4C4-7176-7504-8E45-0EA125771C2E}"/>
                      </a:ext>
                    </a:extLst>
                  </p:cNvPr>
                  <p:cNvGrpSpPr/>
                  <p:nvPr/>
                </p:nvGrpSpPr>
                <p:grpSpPr>
                  <a:xfrm>
                    <a:off x="19641328" y="11336400"/>
                    <a:ext cx="6247134" cy="9904160"/>
                    <a:chOff x="19641328" y="11336400"/>
                    <a:chExt cx="6247134" cy="9904160"/>
                  </a:xfrm>
                </p:grpSpPr>
                <p:grpSp>
                  <p:nvGrpSpPr>
                    <p:cNvPr id="60" name="Gruppieren 59">
                      <a:extLst>
                        <a:ext uri="{FF2B5EF4-FFF2-40B4-BE49-F238E27FC236}">
                          <a16:creationId xmlns:a16="http://schemas.microsoft.com/office/drawing/2014/main" id="{AE0F6782-2710-51CA-091D-734FF39DDD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641328" y="11336400"/>
                      <a:ext cx="6247134" cy="9904160"/>
                      <a:chOff x="19641328" y="11336400"/>
                      <a:chExt cx="6247134" cy="9904160"/>
                    </a:xfrm>
                  </p:grpSpPr>
                  <p:sp>
                    <p:nvSpPr>
                      <p:cNvPr id="84" name="Textfeld 83">
                        <a:extLst>
                          <a:ext uri="{FF2B5EF4-FFF2-40B4-BE49-F238E27FC236}">
                            <a16:creationId xmlns:a16="http://schemas.microsoft.com/office/drawing/2014/main" id="{1CF99B22-0116-7ABD-B492-C18E6ECB09F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332865" y="18491848"/>
                        <a:ext cx="864828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de-DE" sz="2400" noProof="0" dirty="0"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wahr</a:t>
                        </a:r>
                      </a:p>
                    </p:txBody>
                  </p:sp>
                  <p:sp>
                    <p:nvSpPr>
                      <p:cNvPr id="85" name="Textfeld 84">
                        <a:extLst>
                          <a:ext uri="{FF2B5EF4-FFF2-40B4-BE49-F238E27FC236}">
                            <a16:creationId xmlns:a16="http://schemas.microsoft.com/office/drawing/2014/main" id="{3F31725B-DBF2-D326-16DA-7CA1149F45B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2830158" y="18486524"/>
                        <a:ext cx="1068431" cy="46166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de-DE" sz="2400" noProof="0" dirty="0">
                            <a:latin typeface="Segoe UI" panose="020B0502040204020203" pitchFamily="34" charset="0"/>
                            <a:cs typeface="Segoe UI" panose="020B0502040204020203" pitchFamily="34" charset="0"/>
                          </a:rPr>
                          <a:t>falsch</a:t>
                        </a:r>
                      </a:p>
                    </p:txBody>
                  </p:sp>
                  <p:grpSp>
                    <p:nvGrpSpPr>
                      <p:cNvPr id="49" name="Gruppieren 48">
                        <a:extLst>
                          <a:ext uri="{FF2B5EF4-FFF2-40B4-BE49-F238E27FC236}">
                            <a16:creationId xmlns:a16="http://schemas.microsoft.com/office/drawing/2014/main" id="{6D1F5658-0AD6-1BE0-EA39-5890E0411D3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641328" y="11336400"/>
                        <a:ext cx="6247134" cy="9904160"/>
                        <a:chOff x="19641328" y="11336400"/>
                        <a:chExt cx="6247134" cy="9904160"/>
                      </a:xfrm>
                    </p:grpSpPr>
                    <p:sp>
                      <p:nvSpPr>
                        <p:cNvPr id="80" name="Textfeld 79">
                          <a:extLst>
                            <a:ext uri="{FF2B5EF4-FFF2-40B4-BE49-F238E27FC236}">
                              <a16:creationId xmlns:a16="http://schemas.microsoft.com/office/drawing/2014/main" id="{0E7128B8-3777-7054-835F-DBC62075CDF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1555775" y="14373882"/>
                          <a:ext cx="1312324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de-DE" sz="2800" b="1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99.9%</a:t>
                          </a:r>
                        </a:p>
                      </p:txBody>
                    </p:sp>
                    <p:sp>
                      <p:nvSpPr>
                        <p:cNvPr id="81" name="Textfeld 80">
                          <a:extLst>
                            <a:ext uri="{FF2B5EF4-FFF2-40B4-BE49-F238E27FC236}">
                              <a16:creationId xmlns:a16="http://schemas.microsoft.com/office/drawing/2014/main" id="{1F3F353E-2F83-2021-34D3-38692C0B9A9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4454117" y="14373884"/>
                          <a:ext cx="1312324" cy="52322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de-DE" sz="2800" b="1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0.1%</a:t>
                          </a:r>
                        </a:p>
                      </p:txBody>
                    </p:sp>
                    <p:grpSp>
                      <p:nvGrpSpPr>
                        <p:cNvPr id="47" name="Gruppieren 46">
                          <a:extLst>
                            <a:ext uri="{FF2B5EF4-FFF2-40B4-BE49-F238E27FC236}">
                              <a16:creationId xmlns:a16="http://schemas.microsoft.com/office/drawing/2014/main" id="{34B07E45-C260-7213-72D9-9C72002F281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641328" y="11336400"/>
                          <a:ext cx="6247134" cy="9904160"/>
                          <a:chOff x="19641328" y="11336400"/>
                          <a:chExt cx="6247134" cy="9904160"/>
                        </a:xfrm>
                      </p:grpSpPr>
                      <p:grpSp>
                        <p:nvGrpSpPr>
                          <p:cNvPr id="48" name="Gruppieren 47">
                            <a:extLst>
                              <a:ext uri="{FF2B5EF4-FFF2-40B4-BE49-F238E27FC236}">
                                <a16:creationId xmlns:a16="http://schemas.microsoft.com/office/drawing/2014/main" id="{50A65B8B-84D2-AC74-4D70-4DC361FBB3A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9641328" y="11495127"/>
                            <a:ext cx="6247134" cy="9745433"/>
                            <a:chOff x="10885975" y="10931051"/>
                            <a:chExt cx="6669212" cy="10403865"/>
                          </a:xfrm>
                        </p:grpSpPr>
                        <p:sp>
                          <p:nvSpPr>
                            <p:cNvPr id="22" name="Flussdiagramm: Verzweigung 21">
                              <a:extLst>
                                <a:ext uri="{FF2B5EF4-FFF2-40B4-BE49-F238E27FC236}">
                                  <a16:creationId xmlns:a16="http://schemas.microsoft.com/office/drawing/2014/main" id="{2613652B-9AE3-5A8B-D1E1-5F55E26A4AC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100193" y="15281994"/>
                              <a:ext cx="2556119" cy="2631298"/>
                            </a:xfrm>
                            <a:prstGeom prst="flowChartDecision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de-DE" sz="3200" noProof="0" dirty="0"/>
                            </a:p>
                          </p:txBody>
                        </p:sp>
                        <p:cxnSp>
                          <p:nvCxnSpPr>
                            <p:cNvPr id="24" name="Gerade Verbindung mit Pfeil 23">
                              <a:extLst>
                                <a:ext uri="{FF2B5EF4-FFF2-40B4-BE49-F238E27FC236}">
                                  <a16:creationId xmlns:a16="http://schemas.microsoft.com/office/drawing/2014/main" id="{31D62D23-6BDD-351F-7FDA-46620556A6FE}"/>
                                </a:ext>
                              </a:extLst>
                            </p:cNvPr>
                            <p:cNvCxnSpPr>
                              <a:cxnSpLocks/>
                              <a:stCxn id="22" idx="2"/>
                              <a:endCxn id="27" idx="0"/>
                            </p:cNvCxnSpPr>
                            <p:nvPr/>
                          </p:nvCxnSpPr>
                          <p:spPr>
                            <a:xfrm flipH="1">
                              <a:off x="11716735" y="17913292"/>
                              <a:ext cx="1661518" cy="1710812"/>
                            </a:xfrm>
                            <a:prstGeom prst="straightConnector1">
                              <a:avLst/>
                            </a:prstGeom>
                            <a:ln w="44450"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5" name="Gerade Verbindung mit Pfeil 24">
                              <a:extLst>
                                <a:ext uri="{FF2B5EF4-FFF2-40B4-BE49-F238E27FC236}">
                                  <a16:creationId xmlns:a16="http://schemas.microsoft.com/office/drawing/2014/main" id="{C84321EF-5474-7E57-6A8A-9F0D71E44E76}"/>
                                </a:ext>
                              </a:extLst>
                            </p:cNvPr>
                            <p:cNvCxnSpPr>
                              <a:cxnSpLocks/>
                              <a:stCxn id="22" idx="2"/>
                              <a:endCxn id="28" idx="0"/>
                            </p:cNvCxnSpPr>
                            <p:nvPr/>
                          </p:nvCxnSpPr>
                          <p:spPr>
                            <a:xfrm>
                              <a:off x="13378253" y="17913292"/>
                              <a:ext cx="1710811" cy="1710812"/>
                            </a:xfrm>
                            <a:prstGeom prst="straightConnector1">
                              <a:avLst/>
                            </a:prstGeom>
                            <a:ln w="44450"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7" name="Flussdiagramm: Prozess 26">
                              <a:extLst>
                                <a:ext uri="{FF2B5EF4-FFF2-40B4-BE49-F238E27FC236}">
                                  <a16:creationId xmlns:a16="http://schemas.microsoft.com/office/drawing/2014/main" id="{6933E024-A479-BC11-9670-AB000B979A8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885975" y="19624104"/>
                              <a:ext cx="1661518" cy="1710812"/>
                            </a:xfrm>
                            <a:prstGeom prst="flowChartProcess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de-DE" sz="16599" noProof="0" dirty="0"/>
                                <a:t>A</a:t>
                              </a:r>
                            </a:p>
                          </p:txBody>
                        </p:sp>
                        <p:sp>
                          <p:nvSpPr>
                            <p:cNvPr id="28" name="Flussdiagramm: Prozess 27">
                              <a:extLst>
                                <a:ext uri="{FF2B5EF4-FFF2-40B4-BE49-F238E27FC236}">
                                  <a16:creationId xmlns:a16="http://schemas.microsoft.com/office/drawing/2014/main" id="{C5417BC0-24E7-179B-702D-CF97072B12A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4258304" y="19624104"/>
                              <a:ext cx="1661518" cy="1710812"/>
                            </a:xfrm>
                            <a:prstGeom prst="flowChartProcess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de-DE" sz="16599" noProof="0" dirty="0"/>
                                <a:t>B</a:t>
                              </a:r>
                            </a:p>
                          </p:txBody>
                        </p:sp>
                        <p:sp>
                          <p:nvSpPr>
                            <p:cNvPr id="5" name="Flussdiagramm: Verzweigung 4">
                              <a:extLst>
                                <a:ext uri="{FF2B5EF4-FFF2-40B4-BE49-F238E27FC236}">
                                  <a16:creationId xmlns:a16="http://schemas.microsoft.com/office/drawing/2014/main" id="{1C8C3B4F-B3C8-F1FC-F19C-13C356594A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3784849" y="10931051"/>
                              <a:ext cx="2556119" cy="2631298"/>
                            </a:xfrm>
                            <a:prstGeom prst="flowChartDecision">
                              <a:avLst/>
                            </a:prstGeom>
                            <a:solidFill>
                              <a:srgbClr val="77B5B6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de-DE" sz="2800" b="1" noProof="0" dirty="0"/>
                            </a:p>
                          </p:txBody>
                        </p:sp>
                        <p:cxnSp>
                          <p:nvCxnSpPr>
                            <p:cNvPr id="12" name="Gerade Verbindung mit Pfeil 11">
                              <a:extLst>
                                <a:ext uri="{FF2B5EF4-FFF2-40B4-BE49-F238E27FC236}">
                                  <a16:creationId xmlns:a16="http://schemas.microsoft.com/office/drawing/2014/main" id="{9F73EE5F-4552-A8A3-E762-38AC0F58B5A9}"/>
                                </a:ext>
                              </a:extLst>
                            </p:cNvPr>
                            <p:cNvCxnSpPr>
                              <a:cxnSpLocks/>
                              <a:stCxn id="5" idx="2"/>
                              <a:endCxn id="22" idx="0"/>
                            </p:cNvCxnSpPr>
                            <p:nvPr/>
                          </p:nvCxnSpPr>
                          <p:spPr>
                            <a:xfrm flipH="1">
                              <a:off x="13378255" y="13562349"/>
                              <a:ext cx="1684657" cy="1719647"/>
                            </a:xfrm>
                            <a:prstGeom prst="straightConnector1">
                              <a:avLst/>
                            </a:prstGeom>
                            <a:ln w="44450"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3" name="Gerade Verbindung mit Pfeil 12">
                              <a:extLst>
                                <a:ext uri="{FF2B5EF4-FFF2-40B4-BE49-F238E27FC236}">
                                  <a16:creationId xmlns:a16="http://schemas.microsoft.com/office/drawing/2014/main" id="{38D7676C-59E0-3A45-7EFC-2FE039D57B43}"/>
                                </a:ext>
                              </a:extLst>
                            </p:cNvPr>
                            <p:cNvCxnSpPr>
                              <a:cxnSpLocks/>
                              <a:stCxn id="5" idx="2"/>
                              <a:endCxn id="46" idx="0"/>
                            </p:cNvCxnSpPr>
                            <p:nvPr/>
                          </p:nvCxnSpPr>
                          <p:spPr>
                            <a:xfrm>
                              <a:off x="15062907" y="13562349"/>
                              <a:ext cx="1661518" cy="1719647"/>
                            </a:xfrm>
                            <a:prstGeom prst="straightConnector1">
                              <a:avLst/>
                            </a:prstGeom>
                            <a:ln w="44450"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46" name="Flussdiagramm: Prozess 45">
                              <a:extLst>
                                <a:ext uri="{FF2B5EF4-FFF2-40B4-BE49-F238E27FC236}">
                                  <a16:creationId xmlns:a16="http://schemas.microsoft.com/office/drawing/2014/main" id="{D0C30405-C97E-2700-0106-42E934C09E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5893669" y="15281994"/>
                              <a:ext cx="1661518" cy="1710812"/>
                            </a:xfrm>
                            <a:prstGeom prst="flowChartProcess">
                              <a:avLst/>
                            </a:prstGeom>
                            <a:solidFill>
                              <a:srgbClr val="E74141"/>
                            </a:solidFill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de-DE" sz="16599" noProof="0" dirty="0"/>
                                <a:t>C</a:t>
                              </a:r>
                            </a:p>
                          </p:txBody>
                        </p:sp>
                      </p:grpSp>
                      <p:pic>
                        <p:nvPicPr>
                          <p:cNvPr id="9" name="Grafik 8" descr="Ein Bild, das Grafiken, Clipart, Grafikdesign, Kunst enthält.&#10;&#10;KI-generierte Inhalte können fehlerhaft sein.">
                            <a:extLst>
                              <a:ext uri="{FF2B5EF4-FFF2-40B4-BE49-F238E27FC236}">
                                <a16:creationId xmlns:a16="http://schemas.microsoft.com/office/drawing/2014/main" id="{947FC2EE-1976-4BBF-B8F0-710D3F87A805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1556800" y="11336400"/>
                            <a:ext cx="3592079" cy="2694059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</p:grpSp>
                </p:grpSp>
                <p:sp>
                  <p:nvSpPr>
                    <p:cNvPr id="18" name="Textfeld 17">
                      <a:extLst>
                        <a:ext uri="{FF2B5EF4-FFF2-40B4-BE49-F238E27FC236}">
                          <a16:creationId xmlns:a16="http://schemas.microsoft.com/office/drawing/2014/main" id="{1B624560-08FE-557E-1C66-629FF095C3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3898589" y="11743906"/>
                      <a:ext cx="1440417" cy="221599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13800" b="1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?</a:t>
                      </a:r>
                    </a:p>
                  </p:txBody>
                </p:sp>
              </p:grpSp>
              <p:sp>
                <p:nvSpPr>
                  <p:cNvPr id="31" name="Textfeld 30">
                    <a:extLst>
                      <a:ext uri="{FF2B5EF4-FFF2-40B4-BE49-F238E27FC236}">
                        <a16:creationId xmlns:a16="http://schemas.microsoft.com/office/drawing/2014/main" id="{A8EE40AA-4494-D181-7460-9F5905935055}"/>
                      </a:ext>
                    </a:extLst>
                  </p:cNvPr>
                  <p:cNvSpPr txBox="1"/>
                  <p:nvPr/>
                </p:nvSpPr>
                <p:spPr>
                  <a:xfrm>
                    <a:off x="18636566" y="10691577"/>
                    <a:ext cx="9883693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de-DE" sz="40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Probabilistisch obfuskiertes Programm</a:t>
                    </a:r>
                  </a:p>
                </p:txBody>
              </p:sp>
            </p:grpSp>
            <p:grpSp>
              <p:nvGrpSpPr>
                <p:cNvPr id="4" name="Gruppieren 3">
                  <a:extLst>
                    <a:ext uri="{FF2B5EF4-FFF2-40B4-BE49-F238E27FC236}">
                      <a16:creationId xmlns:a16="http://schemas.microsoft.com/office/drawing/2014/main" id="{8D8D9ECF-2775-016A-5729-D1970618DA94}"/>
                    </a:ext>
                  </a:extLst>
                </p:cNvPr>
                <p:cNvGrpSpPr/>
                <p:nvPr/>
              </p:nvGrpSpPr>
              <p:grpSpPr>
                <a:xfrm>
                  <a:off x="3803340" y="10691577"/>
                  <a:ext cx="6064417" cy="10548983"/>
                  <a:chOff x="3803340" y="10691577"/>
                  <a:chExt cx="6064417" cy="10548983"/>
                </a:xfrm>
              </p:grpSpPr>
              <p:sp>
                <p:nvSpPr>
                  <p:cNvPr id="20" name="Textfeld 19">
                    <a:extLst>
                      <a:ext uri="{FF2B5EF4-FFF2-40B4-BE49-F238E27FC236}">
                        <a16:creationId xmlns:a16="http://schemas.microsoft.com/office/drawing/2014/main" id="{91FD6650-04CB-01DA-7DBA-890CF94763C4}"/>
                      </a:ext>
                    </a:extLst>
                  </p:cNvPr>
                  <p:cNvSpPr txBox="1"/>
                  <p:nvPr/>
                </p:nvSpPr>
                <p:spPr>
                  <a:xfrm>
                    <a:off x="3803340" y="10691577"/>
                    <a:ext cx="6064417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de-DE" sz="4000" noProof="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Einfaches Programm</a:t>
                    </a:r>
                  </a:p>
                </p:txBody>
              </p:sp>
              <p:grpSp>
                <p:nvGrpSpPr>
                  <p:cNvPr id="42" name="Gruppieren 41">
                    <a:extLst>
                      <a:ext uri="{FF2B5EF4-FFF2-40B4-BE49-F238E27FC236}">
                        <a16:creationId xmlns:a16="http://schemas.microsoft.com/office/drawing/2014/main" id="{6B7D28B1-21B7-0552-FA81-62C441E65D13}"/>
                      </a:ext>
                    </a:extLst>
                  </p:cNvPr>
                  <p:cNvGrpSpPr/>
                  <p:nvPr/>
                </p:nvGrpSpPr>
                <p:grpSpPr>
                  <a:xfrm>
                    <a:off x="4501003" y="15570712"/>
                    <a:ext cx="4715268" cy="5669848"/>
                    <a:chOff x="4368442" y="15463274"/>
                    <a:chExt cx="4715268" cy="5669848"/>
                  </a:xfrm>
                </p:grpSpPr>
                <p:sp>
                  <p:nvSpPr>
                    <p:cNvPr id="32" name="Flussdiagramm: Verzweigung 31">
                      <a:extLst>
                        <a:ext uri="{FF2B5EF4-FFF2-40B4-BE49-F238E27FC236}">
                          <a16:creationId xmlns:a16="http://schemas.microsoft.com/office/drawing/2014/main" id="{D19FDE52-7C5B-443D-DDD3-5F4E941622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5814" y="15463274"/>
                      <a:ext cx="2394349" cy="2464770"/>
                    </a:xfrm>
                    <a:prstGeom prst="flowChartDecision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 sz="3200" noProof="0" dirty="0"/>
                    </a:p>
                  </p:txBody>
                </p:sp>
                <p:cxnSp>
                  <p:nvCxnSpPr>
                    <p:cNvPr id="33" name="Gerade Verbindung mit Pfeil 32">
                      <a:extLst>
                        <a:ext uri="{FF2B5EF4-FFF2-40B4-BE49-F238E27FC236}">
                          <a16:creationId xmlns:a16="http://schemas.microsoft.com/office/drawing/2014/main" id="{DA5FBF10-25A4-BA8F-8B53-FBF0E2E59859}"/>
                        </a:ext>
                      </a:extLst>
                    </p:cNvPr>
                    <p:cNvCxnSpPr>
                      <a:cxnSpLocks/>
                      <a:stCxn id="32" idx="2"/>
                      <a:endCxn id="35" idx="0"/>
                    </p:cNvCxnSpPr>
                    <p:nvPr/>
                  </p:nvCxnSpPr>
                  <p:spPr>
                    <a:xfrm flipH="1">
                      <a:off x="5146624" y="17928044"/>
                      <a:ext cx="1556365" cy="1602539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" name="Gerade Verbindung mit Pfeil 33">
                      <a:extLst>
                        <a:ext uri="{FF2B5EF4-FFF2-40B4-BE49-F238E27FC236}">
                          <a16:creationId xmlns:a16="http://schemas.microsoft.com/office/drawing/2014/main" id="{F9225269-8255-CAF2-0239-0475644D3EE3}"/>
                        </a:ext>
                      </a:extLst>
                    </p:cNvPr>
                    <p:cNvCxnSpPr>
                      <a:cxnSpLocks/>
                      <a:stCxn id="32" idx="2"/>
                      <a:endCxn id="37" idx="0"/>
                    </p:cNvCxnSpPr>
                    <p:nvPr/>
                  </p:nvCxnSpPr>
                  <p:spPr>
                    <a:xfrm>
                      <a:off x="6702989" y="17928044"/>
                      <a:ext cx="1602538" cy="1602539"/>
                    </a:xfrm>
                    <a:prstGeom prst="straightConnector1">
                      <a:avLst/>
                    </a:prstGeom>
                    <a:ln w="4445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5" name="Flussdiagramm: Prozess 34">
                      <a:extLst>
                        <a:ext uri="{FF2B5EF4-FFF2-40B4-BE49-F238E27FC236}">
                          <a16:creationId xmlns:a16="http://schemas.microsoft.com/office/drawing/2014/main" id="{900CC915-9609-9F43-C62B-48707525BD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8442" y="19530583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A</a:t>
                      </a:r>
                    </a:p>
                  </p:txBody>
                </p:sp>
                <p:sp>
                  <p:nvSpPr>
                    <p:cNvPr id="37" name="Flussdiagramm: Prozess 36">
                      <a:extLst>
                        <a:ext uri="{FF2B5EF4-FFF2-40B4-BE49-F238E27FC236}">
                          <a16:creationId xmlns:a16="http://schemas.microsoft.com/office/drawing/2014/main" id="{0CF66219-7922-BB81-9A78-4C0542AD27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27345" y="19530583"/>
                      <a:ext cx="1556365" cy="1602539"/>
                    </a:xfrm>
                    <a:prstGeom prst="flowChartProcess">
                      <a:avLst/>
                    </a:prstGeom>
                    <a:solidFill>
                      <a:srgbClr val="77B5B6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de-DE" sz="16599" noProof="0" dirty="0"/>
                        <a:t>B</a:t>
                      </a:r>
                    </a:p>
                  </p:txBody>
                </p:sp>
                <p:sp>
                  <p:nvSpPr>
                    <p:cNvPr id="38" name="Textfeld 37">
                      <a:extLst>
                        <a:ext uri="{FF2B5EF4-FFF2-40B4-BE49-F238E27FC236}">
                          <a16:creationId xmlns:a16="http://schemas.microsoft.com/office/drawing/2014/main" id="{45B09A40-58DE-8852-8AD9-664C8D8573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60169" y="18379086"/>
                      <a:ext cx="86482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4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wahr</a:t>
                      </a:r>
                    </a:p>
                  </p:txBody>
                </p:sp>
                <p:sp>
                  <p:nvSpPr>
                    <p:cNvPr id="39" name="Textfeld 38">
                      <a:extLst>
                        <a:ext uri="{FF2B5EF4-FFF2-40B4-BE49-F238E27FC236}">
                          <a16:creationId xmlns:a16="http://schemas.microsoft.com/office/drawing/2014/main" id="{88C75A4D-997C-5DA2-8108-5A24AE55B1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58540" y="18379086"/>
                      <a:ext cx="106843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sz="24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falsch</a:t>
                      </a:r>
                    </a:p>
                  </p:txBody>
                </p:sp>
              </p:grpSp>
            </p:grpSp>
          </p:grpSp>
          <p:cxnSp>
            <p:nvCxnSpPr>
              <p:cNvPr id="61" name="Verbinder: gekrümmt 60">
                <a:extLst>
                  <a:ext uri="{FF2B5EF4-FFF2-40B4-BE49-F238E27FC236}">
                    <a16:creationId xmlns:a16="http://schemas.microsoft.com/office/drawing/2014/main" id="{4FB8CF51-6D8C-2895-6594-F9F564AF063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3977484" y="13125450"/>
                <a:ext cx="1054216" cy="628650"/>
              </a:xfrm>
              <a:prstGeom prst="curved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0FEEDB5D-7AC3-544A-779A-0C2C2F10FDF8}"/>
                  </a:ext>
                </a:extLst>
              </p:cNvPr>
              <p:cNvSpPr txBox="1"/>
              <p:nvPr/>
            </p:nvSpPr>
            <p:spPr>
              <a:xfrm>
                <a:off x="25239127" y="13354519"/>
                <a:ext cx="389649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unwahrscheinliches</a:t>
                </a:r>
                <a:r>
                  <a:rPr lang="de-DE" sz="2800" noProof="0" dirty="0"/>
                  <a:t> Ereignis</a:t>
                </a:r>
              </a:p>
            </p:txBody>
          </p:sp>
        </p:grp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7F355435-0322-FCEA-420D-F187EA06660D}"/>
              </a:ext>
            </a:extLst>
          </p:cNvPr>
          <p:cNvSpPr txBox="1"/>
          <p:nvPr/>
        </p:nvSpPr>
        <p:spPr>
          <a:xfrm>
            <a:off x="-1" y="42359223"/>
            <a:ext cx="3027521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400" noProof="0" dirty="0"/>
              <a:t>[1] BSA. „2018 Global Software Survey“. Mai 2018. url: https://gss.bsa.org/wp-content/uploads/2018/05/2018_BSA_GSS_Report_en.pdf (besucht am 20.02.2026).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86840A4D-94F7-865E-8DDA-4B280CE83086}"/>
                  </a:ext>
                </a:extLst>
              </p:cNvPr>
              <p:cNvSpPr txBox="1"/>
              <p:nvPr/>
            </p:nvSpPr>
            <p:spPr>
              <a:xfrm>
                <a:off x="5371237" y="16227719"/>
                <a:ext cx="197535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40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𝑥</m:t>
                      </m:r>
                      <m:r>
                        <a:rPr lang="de-DE" sz="40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=2?</m:t>
                      </m:r>
                    </m:oMath>
                  </m:oMathPara>
                </a14:m>
                <a:endParaRPr lang="de-DE" sz="4000" i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86840A4D-94F7-865E-8DDA-4B280CE83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237" y="16227719"/>
                <a:ext cx="1975356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341A4185-5FE9-CF03-D305-0F68244963B3}"/>
                  </a:ext>
                </a:extLst>
              </p:cNvPr>
              <p:cNvSpPr txBox="1"/>
              <p:nvPr/>
            </p:nvSpPr>
            <p:spPr>
              <a:xfrm>
                <a:off x="12553015" y="16230558"/>
                <a:ext cx="197535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40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𝑥</m:t>
                      </m:r>
                      <m:r>
                        <a:rPr lang="de-DE" sz="40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=2?</m:t>
                      </m:r>
                    </m:oMath>
                  </m:oMathPara>
                </a14:m>
                <a:endParaRPr lang="de-DE" sz="4000" i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341A4185-5FE9-CF03-D305-0F6824496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3015" y="16230558"/>
                <a:ext cx="1975356" cy="707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0D588374-5A96-1FD8-AEF3-3ED2EFA6E1BB}"/>
                  </a:ext>
                </a:extLst>
              </p:cNvPr>
              <p:cNvSpPr txBox="1"/>
              <p:nvPr/>
            </p:nvSpPr>
            <p:spPr>
              <a:xfrm>
                <a:off x="20511564" y="16230558"/>
                <a:ext cx="197535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40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𝑥</m:t>
                      </m:r>
                      <m:r>
                        <a:rPr lang="de-DE" sz="40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=2?</m:t>
                      </m:r>
                    </m:oMath>
                  </m:oMathPara>
                </a14:m>
                <a:endParaRPr lang="de-DE" sz="4000" i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0D588374-5A96-1FD8-AEF3-3ED2EFA6E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1564" y="16230558"/>
                <a:ext cx="1975356" cy="7078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F1919298-B787-1282-ABF7-423EA7B1CEA5}"/>
                  </a:ext>
                </a:extLst>
              </p:cNvPr>
              <p:cNvSpPr txBox="1"/>
              <p:nvPr/>
            </p:nvSpPr>
            <p:spPr>
              <a:xfrm>
                <a:off x="14149926" y="12151235"/>
                <a:ext cx="197535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4000" b="0" i="1" noProof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1=1?</m:t>
                      </m:r>
                    </m:oMath>
                  </m:oMathPara>
                </a14:m>
                <a:endParaRPr lang="de-DE" sz="4000" i="1" noProof="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F1919298-B787-1282-ABF7-423EA7B1C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9926" y="12151235"/>
                <a:ext cx="1975356" cy="7078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2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294E8-5179-6493-62D8-42759DE45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5">
            <a:extLst>
              <a:ext uri="{FF2B5EF4-FFF2-40B4-BE49-F238E27FC236}">
                <a16:creationId xmlns:a16="http://schemas.microsoft.com/office/drawing/2014/main" id="{F4EE1B0C-ACE5-999A-F220-52202D45AD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73373" y="5601156"/>
            <a:ext cx="27101911" cy="363986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200" noProof="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2FE0D0C-F530-D635-CE97-0F18A38F9FC4}"/>
              </a:ext>
            </a:extLst>
          </p:cNvPr>
          <p:cNvSpPr txBox="1"/>
          <p:nvPr/>
        </p:nvSpPr>
        <p:spPr>
          <a:xfrm>
            <a:off x="2501528" y="9975920"/>
            <a:ext cx="12635695" cy="2170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1. Parameter wählen, dessen Werte sich nicht 	statisch bestimmen lassen.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0F727B9-5A1F-B805-05C1-AEB729D5EA9E}"/>
              </a:ext>
            </a:extLst>
          </p:cNvPr>
          <p:cNvSpPr txBox="1"/>
          <p:nvPr/>
        </p:nvSpPr>
        <p:spPr>
          <a:xfrm>
            <a:off x="2501528" y="18520806"/>
            <a:ext cx="12635695" cy="106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2. Kumulative Verteilungsfunktion generieren.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EE31AE0-C03C-65C2-EED5-AEA35B133799}"/>
              </a:ext>
            </a:extLst>
          </p:cNvPr>
          <p:cNvSpPr txBox="1"/>
          <p:nvPr/>
        </p:nvSpPr>
        <p:spPr>
          <a:xfrm>
            <a:off x="2501529" y="25821639"/>
            <a:ext cx="16205572" cy="3278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3. Über die Inversionsmethode Parameter gemäß der 	zugeordneten Wahrscheinlichkeitsdichtefunktion 	verteilen.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F06C415-6384-43A3-48C0-D2CE0BB134CF}"/>
              </a:ext>
            </a:extLst>
          </p:cNvPr>
          <p:cNvSpPr txBox="1"/>
          <p:nvPr/>
        </p:nvSpPr>
        <p:spPr>
          <a:xfrm>
            <a:off x="2501528" y="31709002"/>
            <a:ext cx="248857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4. Da wir Kontrolle über die Verteilung der Zufallsvariable haben, können wir festlegen,</a:t>
            </a:r>
          </a:p>
          <a:p>
            <a:r>
              <a:rPr lang="de-DE" sz="4800" noProof="0" dirty="0">
                <a:latin typeface="Segoe UI" panose="020B0502040204020203" pitchFamily="34" charset="0"/>
                <a:cs typeface="Segoe UI" panose="020B0502040204020203" pitchFamily="34" charset="0"/>
              </a:rPr>
              <a:t>	dass bestimmte Intervalle/Werte besonders wahrscheinlich sind.</a:t>
            </a:r>
          </a:p>
        </p:txBody>
      </p:sp>
      <p:pic>
        <p:nvPicPr>
          <p:cNvPr id="28" name="Grafik 27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5E7CDE68-3482-B800-0979-65C66CB53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097" y="23795081"/>
            <a:ext cx="7536125" cy="7331834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0" name="Grafik 29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3A7CB72-0478-DFA1-A273-0B189FC98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099" y="15917616"/>
            <a:ext cx="7536123" cy="7331834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3271C6B2-D673-3DEA-20F7-F88D9F37CC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21942" y="6333413"/>
            <a:ext cx="7140433" cy="9192522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7BE9613-0483-BCDB-83D7-5FF2F44EC630}"/>
              </a:ext>
            </a:extLst>
          </p:cNvPr>
          <p:cNvGrpSpPr/>
          <p:nvPr/>
        </p:nvGrpSpPr>
        <p:grpSpPr>
          <a:xfrm>
            <a:off x="-1" y="-64708"/>
            <a:ext cx="30275214" cy="3409387"/>
            <a:chOff x="0" y="-64708"/>
            <a:chExt cx="30275212" cy="3409387"/>
          </a:xfrm>
        </p:grpSpPr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78F2813E-5402-3E04-F39E-B4C2A1C1A95A}"/>
                </a:ext>
              </a:extLst>
            </p:cNvPr>
            <p:cNvSpPr>
              <a:spLocks/>
            </p:cNvSpPr>
            <p:nvPr/>
          </p:nvSpPr>
          <p:spPr>
            <a:xfrm>
              <a:off x="0" y="-64708"/>
              <a:ext cx="30275212" cy="3409387"/>
            </a:xfrm>
            <a:prstGeom prst="rect">
              <a:avLst/>
            </a:prstGeom>
            <a:solidFill>
              <a:srgbClr val="E7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03" noProof="0" dirty="0"/>
            </a:p>
          </p:txBody>
        </p:sp>
        <p:sp>
          <p:nvSpPr>
            <p:cNvPr id="23" name="Rectangle 1">
              <a:extLst>
                <a:ext uri="{FF2B5EF4-FFF2-40B4-BE49-F238E27FC236}">
                  <a16:creationId xmlns:a16="http://schemas.microsoft.com/office/drawing/2014/main" id="{13D2C225-DD12-8D48-BC68-69D4FCC930A1}"/>
                </a:ext>
              </a:extLst>
            </p:cNvPr>
            <p:cNvSpPr>
              <a:spLocks/>
            </p:cNvSpPr>
            <p:nvPr/>
          </p:nvSpPr>
          <p:spPr>
            <a:xfrm>
              <a:off x="944436" y="364876"/>
              <a:ext cx="28559786" cy="22411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de-DE" sz="11999" b="1" noProof="0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Wie sicher ist Ihre Software wirklich?</a:t>
              </a:r>
              <a:endParaRPr lang="de-DE" sz="11999" noProof="0" dirty="0"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371E1D1E-91A8-1A8E-7200-F9BE214E55D5}"/>
              </a:ext>
            </a:extLst>
          </p:cNvPr>
          <p:cNvSpPr txBox="1"/>
          <p:nvPr/>
        </p:nvSpPr>
        <p:spPr>
          <a:xfrm>
            <a:off x="-7524415" y="6135298"/>
            <a:ext cx="271019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72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Funktionsweise</a:t>
            </a: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A610C86B-7CB6-7D8D-802C-57093A03D9ED}"/>
              </a:ext>
            </a:extLst>
          </p:cNvPr>
          <p:cNvSpPr txBox="1"/>
          <p:nvPr/>
        </p:nvSpPr>
        <p:spPr>
          <a:xfrm>
            <a:off x="1770200" y="4033334"/>
            <a:ext cx="25287464" cy="105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</a:t>
            </a:r>
            <a:r>
              <a:rPr lang="en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r>
              <a:rPr lang="de-DE" sz="6243" i="1" noProof="0" dirty="0">
                <a:solidFill>
                  <a:srgbClr val="26262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P: Probabilistische opake Prädikate gegen symbolische Ausführung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FACC6FB-2175-4590-8949-A06D8196E5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7549" y="33670342"/>
            <a:ext cx="9922206" cy="7937765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FFDA604-2579-3BCA-3AC3-9387EA8EE6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135458" y="33637222"/>
            <a:ext cx="9922206" cy="7937765"/>
          </a:xfrm>
          <a:prstGeom prst="rect">
            <a:avLst/>
          </a:prstGeom>
          <a:effectLst>
            <a:outerShdw blurRad="723900" dist="114300" dir="27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3478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BB033A766A71144A60509A0F5E93149" ma:contentTypeVersion="13" ma:contentTypeDescription="Ein neues Dokument erstellen." ma:contentTypeScope="" ma:versionID="ac9e64cf91ee2f5bf496f5450b19170d">
  <xsd:schema xmlns:xsd="http://www.w3.org/2001/XMLSchema" xmlns:xs="http://www.w3.org/2001/XMLSchema" xmlns:p="http://schemas.microsoft.com/office/2006/metadata/properties" xmlns:ns3="c4cc90a2-9aaa-472b-b4b9-c2e2f7531de1" xmlns:ns4="9bb28563-61b0-41a4-9283-13b5233bcc92" targetNamespace="http://schemas.microsoft.com/office/2006/metadata/properties" ma:root="true" ma:fieldsID="3447a254046f03275ed27f69b272c053" ns3:_="" ns4:_="">
    <xsd:import namespace="c4cc90a2-9aaa-472b-b4b9-c2e2f7531de1"/>
    <xsd:import namespace="9bb28563-61b0-41a4-9283-13b5233bcc9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cc90a2-9aaa-472b-b4b9-c2e2f7531d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b28563-61b0-41a4-9283-13b5233bcc9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cc90a2-9aaa-472b-b4b9-c2e2f7531de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4EEFF6-2210-457E-827B-BC5942A48B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cc90a2-9aaa-472b-b4b9-c2e2f7531de1"/>
    <ds:schemaRef ds:uri="9bb28563-61b0-41a4-9283-13b5233bcc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D142E3C-BA2B-4637-AB4C-7097E14859F2}">
  <ds:schemaRefs>
    <ds:schemaRef ds:uri="http://schemas.microsoft.com/office/2006/metadata/properties"/>
    <ds:schemaRef ds:uri="9bb28563-61b0-41a4-9283-13b5233bcc92"/>
    <ds:schemaRef ds:uri="http://purl.org/dc/dcmitype/"/>
    <ds:schemaRef ds:uri="http://schemas.microsoft.com/office/2006/documentManagement/types"/>
    <ds:schemaRef ds:uri="c4cc90a2-9aaa-472b-b4b9-c2e2f7531de1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8277D9C-F1D5-4F0A-9352-105E4E0618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Jufo v3</Template>
  <TotalTime>0</TotalTime>
  <Words>302</Words>
  <Application>Microsoft Office PowerPoint</Application>
  <PresentationFormat>Benutzerdefiniert</PresentationFormat>
  <Paragraphs>45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Segoe UI</vt:lpstr>
      <vt:lpstr>Segoe UI Black</vt:lpstr>
      <vt:lpstr>Segoe UI 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Moritz Baumgartner</dc:creator>
  <cp:lastModifiedBy>Paul Moritz Baumgartner</cp:lastModifiedBy>
  <cp:revision>8</cp:revision>
  <dcterms:created xsi:type="dcterms:W3CDTF">2026-02-22T16:54:34Z</dcterms:created>
  <dcterms:modified xsi:type="dcterms:W3CDTF">2026-02-22T17:27:18Z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0x0101005BB033A766A71144A60509A0F5E93149</vt:lpwstr>
  </property>
</Properties>
</file>