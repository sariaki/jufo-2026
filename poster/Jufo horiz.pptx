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</p:sldIdLst>
  <p:sldSz cx="42803763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1515"/>
    <a:srgbClr val="77B5B6"/>
    <a:srgbClr val="DA4242"/>
    <a:srgbClr val="C90016"/>
    <a:srgbClr val="E74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 snapToGrid="0">
      <p:cViewPr varScale="1">
        <p:scale>
          <a:sx n="18" d="100"/>
          <a:sy n="18" d="100"/>
        </p:scale>
        <p:origin x="8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0282" y="4954765"/>
            <a:ext cx="36383199" cy="10540259"/>
          </a:xfrm>
        </p:spPr>
        <p:txBody>
          <a:bodyPr anchor="b"/>
          <a:lstStyle>
            <a:lvl1pPr algn="ctr">
              <a:defRPr sz="2648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50471" y="15901497"/>
            <a:ext cx="32102822" cy="7309499"/>
          </a:xfrm>
        </p:spPr>
        <p:txBody>
          <a:bodyPr/>
          <a:lstStyle>
            <a:lvl1pPr marL="0" indent="0" algn="ctr">
              <a:buNone/>
              <a:defRPr sz="10595"/>
            </a:lvl1pPr>
            <a:lvl2pPr marL="2018355" indent="0" algn="ctr">
              <a:buNone/>
              <a:defRPr sz="8829"/>
            </a:lvl2pPr>
            <a:lvl3pPr marL="4036710" indent="0" algn="ctr">
              <a:buNone/>
              <a:defRPr sz="7946"/>
            </a:lvl3pPr>
            <a:lvl4pPr marL="6055065" indent="0" algn="ctr">
              <a:buNone/>
              <a:defRPr sz="7063"/>
            </a:lvl4pPr>
            <a:lvl5pPr marL="8073420" indent="0" algn="ctr">
              <a:buNone/>
              <a:defRPr sz="7063"/>
            </a:lvl5pPr>
            <a:lvl6pPr marL="10091776" indent="0" algn="ctr">
              <a:buNone/>
              <a:defRPr sz="7063"/>
            </a:lvl6pPr>
            <a:lvl7pPr marL="12110131" indent="0" algn="ctr">
              <a:buNone/>
              <a:defRPr sz="7063"/>
            </a:lvl7pPr>
            <a:lvl8pPr marL="14128486" indent="0" algn="ctr">
              <a:buNone/>
              <a:defRPr sz="7063"/>
            </a:lvl8pPr>
            <a:lvl9pPr marL="16146841" indent="0" algn="ctr">
              <a:buNone/>
              <a:defRPr sz="706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66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196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0467" y="7547788"/>
            <a:ext cx="36918246" cy="12593645"/>
          </a:xfrm>
        </p:spPr>
        <p:txBody>
          <a:bodyPr anchor="b"/>
          <a:lstStyle>
            <a:lvl1pPr>
              <a:defRPr sz="2648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67" y="20260574"/>
            <a:ext cx="36918246" cy="6622701"/>
          </a:xfrm>
        </p:spPr>
        <p:txBody>
          <a:bodyPr/>
          <a:lstStyle>
            <a:lvl1pPr marL="0" indent="0">
              <a:buNone/>
              <a:defRPr sz="10595">
                <a:solidFill>
                  <a:schemeClr val="tx1">
                    <a:tint val="82000"/>
                  </a:schemeClr>
                </a:solidFill>
              </a:defRPr>
            </a:lvl1pPr>
            <a:lvl2pPr marL="2018355" indent="0">
              <a:buNone/>
              <a:defRPr sz="8829">
                <a:solidFill>
                  <a:schemeClr val="tx1">
                    <a:tint val="82000"/>
                  </a:schemeClr>
                </a:solidFill>
              </a:defRPr>
            </a:lvl2pPr>
            <a:lvl3pPr marL="403671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3pPr>
            <a:lvl4pPr marL="6055065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4pPr>
            <a:lvl5pPr marL="8073420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5pPr>
            <a:lvl6pPr marL="10091776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6pPr>
            <a:lvl7pPr marL="12110131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7pPr>
            <a:lvl8pPr marL="14128486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8pPr>
            <a:lvl9pPr marL="16146841" indent="0">
              <a:buNone/>
              <a:defRPr sz="706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644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42759" y="8059374"/>
            <a:ext cx="18191599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69405" y="8059374"/>
            <a:ext cx="18191599" cy="1920934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435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1611882"/>
            <a:ext cx="36918246" cy="585180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8339" y="7421634"/>
            <a:ext cx="18107995" cy="3637228"/>
          </a:xfrm>
        </p:spPr>
        <p:txBody>
          <a:bodyPr anchor="b"/>
          <a:lstStyle>
            <a:lvl1pPr marL="0" indent="0">
              <a:buNone/>
              <a:defRPr sz="10595" b="1"/>
            </a:lvl1pPr>
            <a:lvl2pPr marL="2018355" indent="0">
              <a:buNone/>
              <a:defRPr sz="8829" b="1"/>
            </a:lvl2pPr>
            <a:lvl3pPr marL="4036710" indent="0">
              <a:buNone/>
              <a:defRPr sz="7946" b="1"/>
            </a:lvl3pPr>
            <a:lvl4pPr marL="6055065" indent="0">
              <a:buNone/>
              <a:defRPr sz="7063" b="1"/>
            </a:lvl4pPr>
            <a:lvl5pPr marL="8073420" indent="0">
              <a:buNone/>
              <a:defRPr sz="7063" b="1"/>
            </a:lvl5pPr>
            <a:lvl6pPr marL="10091776" indent="0">
              <a:buNone/>
              <a:defRPr sz="7063" b="1"/>
            </a:lvl6pPr>
            <a:lvl7pPr marL="12110131" indent="0">
              <a:buNone/>
              <a:defRPr sz="7063" b="1"/>
            </a:lvl7pPr>
            <a:lvl8pPr marL="14128486" indent="0">
              <a:buNone/>
              <a:defRPr sz="7063" b="1"/>
            </a:lvl8pPr>
            <a:lvl9pPr marL="16146841" indent="0">
              <a:buNone/>
              <a:defRPr sz="706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8339" y="11058863"/>
            <a:ext cx="18107995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669408" y="7421634"/>
            <a:ext cx="18197174" cy="3637228"/>
          </a:xfrm>
        </p:spPr>
        <p:txBody>
          <a:bodyPr anchor="b"/>
          <a:lstStyle>
            <a:lvl1pPr marL="0" indent="0">
              <a:buNone/>
              <a:defRPr sz="10595" b="1"/>
            </a:lvl1pPr>
            <a:lvl2pPr marL="2018355" indent="0">
              <a:buNone/>
              <a:defRPr sz="8829" b="1"/>
            </a:lvl2pPr>
            <a:lvl3pPr marL="4036710" indent="0">
              <a:buNone/>
              <a:defRPr sz="7946" b="1"/>
            </a:lvl3pPr>
            <a:lvl4pPr marL="6055065" indent="0">
              <a:buNone/>
              <a:defRPr sz="7063" b="1"/>
            </a:lvl4pPr>
            <a:lvl5pPr marL="8073420" indent="0">
              <a:buNone/>
              <a:defRPr sz="7063" b="1"/>
            </a:lvl5pPr>
            <a:lvl6pPr marL="10091776" indent="0">
              <a:buNone/>
              <a:defRPr sz="7063" b="1"/>
            </a:lvl6pPr>
            <a:lvl7pPr marL="12110131" indent="0">
              <a:buNone/>
              <a:defRPr sz="7063" b="1"/>
            </a:lvl7pPr>
            <a:lvl8pPr marL="14128486" indent="0">
              <a:buNone/>
              <a:defRPr sz="7063" b="1"/>
            </a:lvl8pPr>
            <a:lvl9pPr marL="16146841" indent="0">
              <a:buNone/>
              <a:defRPr sz="706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669408" y="11058863"/>
            <a:ext cx="18197174" cy="162659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175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101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902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2018348"/>
            <a:ext cx="13805328" cy="7064216"/>
          </a:xfrm>
        </p:spPr>
        <p:txBody>
          <a:bodyPr anchor="b"/>
          <a:lstStyle>
            <a:lvl1pPr>
              <a:defRPr sz="1412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7174" y="4359077"/>
            <a:ext cx="21669405" cy="21515024"/>
          </a:xfrm>
        </p:spPr>
        <p:txBody>
          <a:bodyPr/>
          <a:lstStyle>
            <a:lvl1pPr>
              <a:defRPr sz="14127"/>
            </a:lvl1pPr>
            <a:lvl2pPr>
              <a:defRPr sz="12361"/>
            </a:lvl2pPr>
            <a:lvl3pPr>
              <a:defRPr sz="10595"/>
            </a:lvl3pPr>
            <a:lvl4pPr>
              <a:defRPr sz="8829"/>
            </a:lvl4pPr>
            <a:lvl5pPr>
              <a:defRPr sz="8829"/>
            </a:lvl5pPr>
            <a:lvl6pPr>
              <a:defRPr sz="8829"/>
            </a:lvl6pPr>
            <a:lvl7pPr>
              <a:defRPr sz="8829"/>
            </a:lvl7pPr>
            <a:lvl8pPr>
              <a:defRPr sz="8829"/>
            </a:lvl8pPr>
            <a:lvl9pPr>
              <a:defRPr sz="882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8334" y="9082564"/>
            <a:ext cx="13805328" cy="16826573"/>
          </a:xfrm>
        </p:spPr>
        <p:txBody>
          <a:bodyPr/>
          <a:lstStyle>
            <a:lvl1pPr marL="0" indent="0">
              <a:buNone/>
              <a:defRPr sz="7063"/>
            </a:lvl1pPr>
            <a:lvl2pPr marL="2018355" indent="0">
              <a:buNone/>
              <a:defRPr sz="6180"/>
            </a:lvl2pPr>
            <a:lvl3pPr marL="4036710" indent="0">
              <a:buNone/>
              <a:defRPr sz="5298"/>
            </a:lvl3pPr>
            <a:lvl4pPr marL="6055065" indent="0">
              <a:buNone/>
              <a:defRPr sz="4415"/>
            </a:lvl4pPr>
            <a:lvl5pPr marL="8073420" indent="0">
              <a:buNone/>
              <a:defRPr sz="4415"/>
            </a:lvl5pPr>
            <a:lvl6pPr marL="10091776" indent="0">
              <a:buNone/>
              <a:defRPr sz="4415"/>
            </a:lvl6pPr>
            <a:lvl7pPr marL="12110131" indent="0">
              <a:buNone/>
              <a:defRPr sz="4415"/>
            </a:lvl7pPr>
            <a:lvl8pPr marL="14128486" indent="0">
              <a:buNone/>
              <a:defRPr sz="4415"/>
            </a:lvl8pPr>
            <a:lvl9pPr marL="16146841" indent="0">
              <a:buNone/>
              <a:defRPr sz="441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56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2018348"/>
            <a:ext cx="13805328" cy="7064216"/>
          </a:xfrm>
        </p:spPr>
        <p:txBody>
          <a:bodyPr anchor="b"/>
          <a:lstStyle>
            <a:lvl1pPr>
              <a:defRPr sz="1412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197174" y="4359077"/>
            <a:ext cx="21669405" cy="21515024"/>
          </a:xfrm>
        </p:spPr>
        <p:txBody>
          <a:bodyPr anchor="t"/>
          <a:lstStyle>
            <a:lvl1pPr marL="0" indent="0">
              <a:buNone/>
              <a:defRPr sz="14127"/>
            </a:lvl1pPr>
            <a:lvl2pPr marL="2018355" indent="0">
              <a:buNone/>
              <a:defRPr sz="12361"/>
            </a:lvl2pPr>
            <a:lvl3pPr marL="4036710" indent="0">
              <a:buNone/>
              <a:defRPr sz="10595"/>
            </a:lvl3pPr>
            <a:lvl4pPr marL="6055065" indent="0">
              <a:buNone/>
              <a:defRPr sz="8829"/>
            </a:lvl4pPr>
            <a:lvl5pPr marL="8073420" indent="0">
              <a:buNone/>
              <a:defRPr sz="8829"/>
            </a:lvl5pPr>
            <a:lvl6pPr marL="10091776" indent="0">
              <a:buNone/>
              <a:defRPr sz="8829"/>
            </a:lvl6pPr>
            <a:lvl7pPr marL="12110131" indent="0">
              <a:buNone/>
              <a:defRPr sz="8829"/>
            </a:lvl7pPr>
            <a:lvl8pPr marL="14128486" indent="0">
              <a:buNone/>
              <a:defRPr sz="8829"/>
            </a:lvl8pPr>
            <a:lvl9pPr marL="16146841" indent="0">
              <a:buNone/>
              <a:defRPr sz="882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8334" y="9082564"/>
            <a:ext cx="13805328" cy="16826573"/>
          </a:xfrm>
        </p:spPr>
        <p:txBody>
          <a:bodyPr/>
          <a:lstStyle>
            <a:lvl1pPr marL="0" indent="0">
              <a:buNone/>
              <a:defRPr sz="7063"/>
            </a:lvl1pPr>
            <a:lvl2pPr marL="2018355" indent="0">
              <a:buNone/>
              <a:defRPr sz="6180"/>
            </a:lvl2pPr>
            <a:lvl3pPr marL="4036710" indent="0">
              <a:buNone/>
              <a:defRPr sz="5298"/>
            </a:lvl3pPr>
            <a:lvl4pPr marL="6055065" indent="0">
              <a:buNone/>
              <a:defRPr sz="4415"/>
            </a:lvl4pPr>
            <a:lvl5pPr marL="8073420" indent="0">
              <a:buNone/>
              <a:defRPr sz="4415"/>
            </a:lvl5pPr>
            <a:lvl6pPr marL="10091776" indent="0">
              <a:buNone/>
              <a:defRPr sz="4415"/>
            </a:lvl6pPr>
            <a:lvl7pPr marL="12110131" indent="0">
              <a:buNone/>
              <a:defRPr sz="4415"/>
            </a:lvl7pPr>
            <a:lvl8pPr marL="14128486" indent="0">
              <a:buNone/>
              <a:defRPr sz="4415"/>
            </a:lvl8pPr>
            <a:lvl9pPr marL="16146841" indent="0">
              <a:buNone/>
              <a:defRPr sz="441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729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667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631445" y="1611875"/>
            <a:ext cx="9229561" cy="256568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42761" y="1611875"/>
            <a:ext cx="27153637" cy="256568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4808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2759" y="1611882"/>
            <a:ext cx="36918246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2759" y="8059374"/>
            <a:ext cx="36918246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42759" y="28060644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805D1E-C9D8-431E-8B0C-8C295B930FCA}" type="datetimeFigureOut">
              <a:rPr lang="de-DE" smtClean="0"/>
              <a:t>01.02.2026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78747" y="28060644"/>
            <a:ext cx="14446270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230157" y="28060644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6B75B-AD07-4DBD-B42C-E83F3994C5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272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036710" rtl="0" eaLnBrk="1" latinLnBrk="0" hangingPunct="1">
        <a:lnSpc>
          <a:spcPct val="90000"/>
        </a:lnSpc>
        <a:spcBef>
          <a:spcPct val="0"/>
        </a:spcBef>
        <a:buNone/>
        <a:defRPr sz="194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9178" indent="-1009178" algn="l" defTabSz="4036710" rtl="0" eaLnBrk="1" latinLnBrk="0" hangingPunct="1">
        <a:lnSpc>
          <a:spcPct val="90000"/>
        </a:lnSpc>
        <a:spcBef>
          <a:spcPts val="4415"/>
        </a:spcBef>
        <a:buFont typeface="Arial" panose="020B0604020202020204" pitchFamily="34" charset="0"/>
        <a:buChar char="•"/>
        <a:defRPr sz="12361" kern="1200">
          <a:solidFill>
            <a:schemeClr val="tx1"/>
          </a:solidFill>
          <a:latin typeface="+mn-lt"/>
          <a:ea typeface="+mn-ea"/>
          <a:cs typeface="+mn-cs"/>
        </a:defRPr>
      </a:lvl1pPr>
      <a:lvl2pPr marL="302753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10595" kern="1200">
          <a:solidFill>
            <a:schemeClr val="tx1"/>
          </a:solidFill>
          <a:latin typeface="+mn-lt"/>
          <a:ea typeface="+mn-ea"/>
          <a:cs typeface="+mn-cs"/>
        </a:defRPr>
      </a:lvl2pPr>
      <a:lvl3pPr marL="504588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8829" kern="1200">
          <a:solidFill>
            <a:schemeClr val="tx1"/>
          </a:solidFill>
          <a:latin typeface="+mn-lt"/>
          <a:ea typeface="+mn-ea"/>
          <a:cs typeface="+mn-cs"/>
        </a:defRPr>
      </a:lvl3pPr>
      <a:lvl4pPr marL="706424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4pPr>
      <a:lvl5pPr marL="908259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5pPr>
      <a:lvl6pPr marL="1110095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6pPr>
      <a:lvl7pPr marL="1311930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7pPr>
      <a:lvl8pPr marL="1513766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8pPr>
      <a:lvl9pPr marL="17156019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1pPr>
      <a:lvl2pPr marL="2018355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403671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3pPr>
      <a:lvl4pPr marL="6055065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4pPr>
      <a:lvl5pPr marL="807342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5pPr>
      <a:lvl6pPr marL="10091776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6pPr>
      <a:lvl7pPr marL="12110131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7pPr>
      <a:lvl8pPr marL="14128486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8pPr>
      <a:lvl9pPr marL="16146841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D4DDDF66-5100-A17D-1A4A-169A87EAB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477116"/>
              </p:ext>
            </p:extLst>
          </p:nvPr>
        </p:nvGraphicFramePr>
        <p:xfrm>
          <a:off x="2" y="0"/>
          <a:ext cx="42803761" cy="3027521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114823">
                  <a:extLst>
                    <a:ext uri="{9D8B030D-6E8A-4147-A177-3AD203B41FA5}">
                      <a16:colId xmlns:a16="http://schemas.microsoft.com/office/drawing/2014/main" val="1516600712"/>
                    </a:ext>
                  </a:extLst>
                </a:gridCol>
                <a:gridCol w="6114823">
                  <a:extLst>
                    <a:ext uri="{9D8B030D-6E8A-4147-A177-3AD203B41FA5}">
                      <a16:colId xmlns:a16="http://schemas.microsoft.com/office/drawing/2014/main" val="1926106140"/>
                    </a:ext>
                  </a:extLst>
                </a:gridCol>
                <a:gridCol w="6114823">
                  <a:extLst>
                    <a:ext uri="{9D8B030D-6E8A-4147-A177-3AD203B41FA5}">
                      <a16:colId xmlns:a16="http://schemas.microsoft.com/office/drawing/2014/main" val="1814694300"/>
                    </a:ext>
                  </a:extLst>
                </a:gridCol>
                <a:gridCol w="6114823">
                  <a:extLst>
                    <a:ext uri="{9D8B030D-6E8A-4147-A177-3AD203B41FA5}">
                      <a16:colId xmlns:a16="http://schemas.microsoft.com/office/drawing/2014/main" val="3425044500"/>
                    </a:ext>
                  </a:extLst>
                </a:gridCol>
                <a:gridCol w="6114823">
                  <a:extLst>
                    <a:ext uri="{9D8B030D-6E8A-4147-A177-3AD203B41FA5}">
                      <a16:colId xmlns:a16="http://schemas.microsoft.com/office/drawing/2014/main" val="946927034"/>
                    </a:ext>
                  </a:extLst>
                </a:gridCol>
                <a:gridCol w="6114823">
                  <a:extLst>
                    <a:ext uri="{9D8B030D-6E8A-4147-A177-3AD203B41FA5}">
                      <a16:colId xmlns:a16="http://schemas.microsoft.com/office/drawing/2014/main" val="3396768166"/>
                    </a:ext>
                  </a:extLst>
                </a:gridCol>
                <a:gridCol w="6114823">
                  <a:extLst>
                    <a:ext uri="{9D8B030D-6E8A-4147-A177-3AD203B41FA5}">
                      <a16:colId xmlns:a16="http://schemas.microsoft.com/office/drawing/2014/main" val="1729677131"/>
                    </a:ext>
                  </a:extLst>
                </a:gridCol>
              </a:tblGrid>
              <a:tr h="2328863">
                <a:tc>
                  <a:txBody>
                    <a:bodyPr/>
                    <a:lstStyle/>
                    <a:p>
                      <a:endParaRPr lang="de-DE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864195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306105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650840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980940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706507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114198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976789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7559733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030014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99797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9804434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8936585"/>
                  </a:ext>
                </a:extLst>
              </a:tr>
              <a:tr h="2328863"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424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011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877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286458-C505-043D-0FAE-021D6B868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758" y="0"/>
            <a:ext cx="36918246" cy="2363770"/>
          </a:xfrm>
        </p:spPr>
        <p:txBody>
          <a:bodyPr>
            <a:noAutofit/>
          </a:bodyPr>
          <a:lstStyle/>
          <a:p>
            <a:pPr algn="ctr"/>
            <a:r>
              <a:rPr lang="de-DE" sz="96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Konstruktionsschema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F16C9-C29A-080E-C6DC-841F0051BE55}"/>
              </a:ext>
            </a:extLst>
          </p:cNvPr>
          <p:cNvSpPr txBox="1"/>
          <p:nvPr/>
        </p:nvSpPr>
        <p:spPr>
          <a:xfrm>
            <a:off x="1666255" y="2538325"/>
            <a:ext cx="39760042" cy="16821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432502" tIns="432502" rIns="432502" bIns="432502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de-DE" sz="4000" b="1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Ziel: </a:t>
            </a:r>
            <a:r>
              <a:rPr lang="de-DE" sz="4000" noProof="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wahrscheinliche/unwahrscheinliche Aussagen generieren.</a:t>
            </a:r>
            <a:endParaRPr lang="de-DE" sz="4000" b="1" noProof="0" dirty="0"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E5495E57-CDDC-7703-9941-052A1A72334C}"/>
              </a:ext>
            </a:extLst>
          </p:cNvPr>
          <p:cNvGrpSpPr/>
          <p:nvPr/>
        </p:nvGrpSpPr>
        <p:grpSpPr>
          <a:xfrm>
            <a:off x="9151841" y="4459248"/>
            <a:ext cx="24500079" cy="4663704"/>
            <a:chOff x="7344895" y="5034584"/>
            <a:chExt cx="30463557" cy="57988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7F9DD8A8-3AAA-A14F-EFD2-8CCC9A8C5D3C}"/>
                    </a:ext>
                  </a:extLst>
                </p:cNvPr>
                <p:cNvSpPr txBox="1"/>
                <p:nvPr/>
              </p:nvSpPr>
              <p:spPr>
                <a:xfrm>
                  <a:off x="15838851" y="5034584"/>
                  <a:ext cx="11414850" cy="110607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66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6600" i="1" noProof="0">
                                <a:latin typeface="Cambria Math" panose="02040503050406030204" pitchFamily="18" charset="0"/>
                              </a:rPr>
                              <m:t>𝒪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sz="6600" b="0" i="1" noProof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d>
                          <m:dPr>
                            <m:ctrlPr>
                              <a:rPr lang="de-DE" sz="6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6600" i="1" noProof="0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r>
                          <a:rPr lang="de-DE" sz="6600" i="1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sz="6600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6600" i="1" noProof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de-DE" sz="6600" i="1" noProof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6600" i="1" noProof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d>
                            <m:r>
                              <a:rPr lang="de-DE" sz="6600" i="1" noProof="0">
                                <a:latin typeface="Cambria Math" panose="02040503050406030204" pitchFamily="18" charset="0"/>
                              </a:rPr>
                              <m:t>⋈</m:t>
                            </m:r>
                            <m:r>
                              <a:rPr lang="de-DE" sz="6600" i="1" noProof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oMath>
                    </m:oMathPara>
                  </a14:m>
                  <a:endParaRPr lang="de-DE" sz="6600" noProof="0" dirty="0"/>
                </a:p>
              </p:txBody>
            </p:sp>
          </mc:Choice>
          <mc:Fallback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7F9DD8A8-3AAA-A14F-EFD2-8CCC9A8C5D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38851" y="5034584"/>
                  <a:ext cx="11414850" cy="1106072"/>
                </a:xfrm>
                <a:prstGeom prst="rect">
                  <a:avLst/>
                </a:prstGeom>
                <a:blipFill>
                  <a:blip r:embed="rId2"/>
                  <a:stretch>
                    <a:fillRect b="-2413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5ADF4096-8D9C-CED8-2B7B-03957C7C5E0A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V="1">
              <a:off x="20311460" y="6437568"/>
              <a:ext cx="1508276" cy="32800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11CF745F-D805-9C4A-F5FC-F33601F765C4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H="1" flipV="1">
              <a:off x="24390628" y="6006051"/>
              <a:ext cx="3380061" cy="338086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E9AC62BD-B2F7-3C64-0567-C61A80F83A3E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25743106" y="6140656"/>
              <a:ext cx="7592739" cy="233265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8728B9CB-6EF0-60B8-D101-89644D5EA1FF}"/>
                </a:ext>
              </a:extLst>
            </p:cNvPr>
            <p:cNvCxnSpPr>
              <a:cxnSpLocks/>
              <a:stCxn id="4" idx="0"/>
            </p:cNvCxnSpPr>
            <p:nvPr/>
          </p:nvCxnSpPr>
          <p:spPr>
            <a:xfrm flipV="1">
              <a:off x="11817504" y="6208869"/>
              <a:ext cx="7043500" cy="287688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feld 3">
                  <a:extLst>
                    <a:ext uri="{FF2B5EF4-FFF2-40B4-BE49-F238E27FC236}">
                      <a16:creationId xmlns:a16="http://schemas.microsoft.com/office/drawing/2014/main" id="{B4998148-CCB0-DF03-7744-6505651DD846}"/>
                    </a:ext>
                  </a:extLst>
                </p:cNvPr>
                <p:cNvSpPr txBox="1"/>
                <p:nvPr/>
              </p:nvSpPr>
              <p:spPr>
                <a:xfrm>
                  <a:off x="7344895" y="9085749"/>
                  <a:ext cx="8945217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44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Probabilistisches opakes Prädikat mit Parameter </a:t>
                  </a:r>
                  <a14:m>
                    <m:oMath xmlns:m="http://schemas.openxmlformats.org/officeDocument/2006/math">
                      <m:r>
                        <a:rPr lang="de-DE" sz="4400" b="0" i="1" noProof="0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a14:m>
                  <a:endParaRPr lang="de-DE" sz="4400" i="1" noProof="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4" name="Textfeld 3">
                  <a:extLst>
                    <a:ext uri="{FF2B5EF4-FFF2-40B4-BE49-F238E27FC236}">
                      <a16:creationId xmlns:a16="http://schemas.microsoft.com/office/drawing/2014/main" id="{B4998148-CCB0-DF03-7744-6505651DD8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4895" y="9085749"/>
                  <a:ext cx="8945217" cy="1446550"/>
                </a:xfrm>
                <a:prstGeom prst="rect">
                  <a:avLst/>
                </a:prstGeom>
                <a:blipFill>
                  <a:blip r:embed="rId3"/>
                  <a:stretch>
                    <a:fillRect t="-10995" b="-4816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EC53FA7F-35C4-DCCB-4659-AAF832C46313}"/>
                    </a:ext>
                  </a:extLst>
                </p:cNvPr>
                <p:cNvSpPr txBox="1"/>
                <p:nvPr/>
              </p:nvSpPr>
              <p:spPr>
                <a:xfrm>
                  <a:off x="15838851" y="9717655"/>
                  <a:ext cx="8945217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44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Transformation von </a:t>
                  </a:r>
                  <a14:m>
                    <m:oMath xmlns:m="http://schemas.openxmlformats.org/officeDocument/2006/math">
                      <m:r>
                        <a:rPr lang="de-DE" sz="4400" b="0" i="1" noProof="0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a14:m>
                  <a:endParaRPr lang="de-DE" sz="4400" i="1" noProof="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EC53FA7F-35C4-DCCB-4659-AAF832C46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38851" y="9717655"/>
                  <a:ext cx="8945217" cy="769441"/>
                </a:xfrm>
                <a:prstGeom prst="rect">
                  <a:avLst/>
                </a:prstGeom>
                <a:blipFill>
                  <a:blip r:embed="rId4"/>
                  <a:stretch>
                    <a:fillRect t="-19608" b="-69608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F1E3CEB-2B19-BD82-760D-CE351E0B2784}"/>
                    </a:ext>
                  </a:extLst>
                </p:cNvPr>
                <p:cNvSpPr txBox="1"/>
                <p:nvPr/>
              </p:nvSpPr>
              <p:spPr>
                <a:xfrm>
                  <a:off x="23298080" y="9386914"/>
                  <a:ext cx="8945217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44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Beliebiger Vergleichsoperator </a:t>
                  </a:r>
                  <a:br>
                    <a:rPr lang="de-DE" sz="44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</a:br>
                  <a:r>
                    <a:rPr lang="de-DE" sz="44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(z.B. </a:t>
                  </a:r>
                  <a14:m>
                    <m:oMath xmlns:m="http://schemas.openxmlformats.org/officeDocument/2006/math">
                      <m:r>
                        <a:rPr lang="de-DE" sz="4400" b="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=, &gt;, &lt;, ≥, ≤</m:t>
                      </m:r>
                    </m:oMath>
                  </a14:m>
                  <a:r>
                    <a:rPr lang="de-DE" sz="44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7" name="Textfeld 6">
                  <a:extLst>
                    <a:ext uri="{FF2B5EF4-FFF2-40B4-BE49-F238E27FC236}">
                      <a16:creationId xmlns:a16="http://schemas.microsoft.com/office/drawing/2014/main" id="{EF1E3CEB-2B19-BD82-760D-CE351E0B27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98080" y="9386914"/>
                  <a:ext cx="8945217" cy="1446550"/>
                </a:xfrm>
                <a:prstGeom prst="rect">
                  <a:avLst/>
                </a:prstGeom>
                <a:blipFill>
                  <a:blip r:embed="rId5"/>
                  <a:stretch>
                    <a:fillRect t="-10995" b="-105759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D17E9604-A1F5-968D-2274-6756FE7F0440}"/>
                </a:ext>
              </a:extLst>
            </p:cNvPr>
            <p:cNvSpPr txBox="1"/>
            <p:nvPr/>
          </p:nvSpPr>
          <p:spPr>
            <a:xfrm>
              <a:off x="28863235" y="8473309"/>
              <a:ext cx="894521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400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Vergleichskonstante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F42F5F69-B446-E6C7-C3B1-39DDFCAC48E1}"/>
              </a:ext>
            </a:extLst>
          </p:cNvPr>
          <p:cNvGrpSpPr/>
          <p:nvPr/>
        </p:nvGrpSpPr>
        <p:grpSpPr>
          <a:xfrm>
            <a:off x="1666253" y="10302105"/>
            <a:ext cx="39760041" cy="18481617"/>
            <a:chOff x="1666253" y="10302105"/>
            <a:chExt cx="39760041" cy="18481617"/>
          </a:xfrm>
        </p:grpSpPr>
        <p:sp>
          <p:nvSpPr>
            <p:cNvPr id="13" name="Rectangle 35">
              <a:extLst>
                <a:ext uri="{FF2B5EF4-FFF2-40B4-BE49-F238E27FC236}">
                  <a16:creationId xmlns:a16="http://schemas.microsoft.com/office/drawing/2014/main" id="{8F833F04-2842-5161-D691-D596E405A475}"/>
                </a:ext>
              </a:extLst>
            </p:cNvPr>
            <p:cNvSpPr>
              <a:spLocks/>
            </p:cNvSpPr>
            <p:nvPr/>
          </p:nvSpPr>
          <p:spPr>
            <a:xfrm>
              <a:off x="1666253" y="10302105"/>
              <a:ext cx="39760041" cy="184816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23900" dist="1143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2200" noProof="0" dirty="0"/>
            </a:p>
          </p:txBody>
        </p: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9C4C708F-A370-3EB8-5CE4-F7778C3FB966}"/>
                </a:ext>
              </a:extLst>
            </p:cNvPr>
            <p:cNvGrpSpPr/>
            <p:nvPr/>
          </p:nvGrpSpPr>
          <p:grpSpPr>
            <a:xfrm>
              <a:off x="4026412" y="18375754"/>
              <a:ext cx="33093558" cy="8109085"/>
              <a:chOff x="2942759" y="18592888"/>
              <a:chExt cx="36788879" cy="9427380"/>
            </a:xfrm>
          </p:grpSpPr>
          <p:pic>
            <p:nvPicPr>
              <p:cNvPr id="50" name="Grafik 49" descr="Ein Bild, das Text, Screenshot, Diagramm, Reihe enthält.&#10;&#10;KI-generierte Inhalte können fehlerhaft sein.">
                <a:extLst>
                  <a:ext uri="{FF2B5EF4-FFF2-40B4-BE49-F238E27FC236}">
                    <a16:creationId xmlns:a16="http://schemas.microsoft.com/office/drawing/2014/main" id="{9FDD11A0-2DCE-CD13-0BEA-E7EA3CBD3E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42759" y="18874179"/>
                <a:ext cx="9146089" cy="9146089"/>
              </a:xfrm>
              <a:prstGeom prst="rect">
                <a:avLst/>
              </a:prstGeom>
              <a:effectLst>
                <a:outerShdw blurRad="723900" dist="114300" dir="2700000" algn="tl" rotWithShape="0">
                  <a:prstClr val="black">
                    <a:alpha val="10000"/>
                  </a:prstClr>
                </a:outerShdw>
              </a:effectLst>
            </p:spPr>
          </p:pic>
          <p:sp>
            <p:nvSpPr>
              <p:cNvPr id="51" name="Pfeil: nach rechts 50">
                <a:extLst>
                  <a:ext uri="{FF2B5EF4-FFF2-40B4-BE49-F238E27FC236}">
                    <a16:creationId xmlns:a16="http://schemas.microsoft.com/office/drawing/2014/main" id="{E8A1DC3D-69FE-C1E4-C7AC-7E08797C30BF}"/>
                  </a:ext>
                </a:extLst>
              </p:cNvPr>
              <p:cNvSpPr/>
              <p:nvPr/>
            </p:nvSpPr>
            <p:spPr>
              <a:xfrm>
                <a:off x="12501528" y="22157396"/>
                <a:ext cx="3022490" cy="2014983"/>
              </a:xfrm>
              <a:prstGeom prst="rightArrow">
                <a:avLst/>
              </a:prstGeom>
              <a:solidFill>
                <a:srgbClr val="77B5B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noProof="0" dirty="0"/>
              </a:p>
            </p:txBody>
          </p:sp>
          <p:sp>
            <p:nvSpPr>
              <p:cNvPr id="32" name="Pfeil: nach rechts 31">
                <a:extLst>
                  <a:ext uri="{FF2B5EF4-FFF2-40B4-BE49-F238E27FC236}">
                    <a16:creationId xmlns:a16="http://schemas.microsoft.com/office/drawing/2014/main" id="{62A4DD9D-CDBF-7A51-14E7-71A8F01B24C9}"/>
                  </a:ext>
                </a:extLst>
              </p:cNvPr>
              <p:cNvSpPr/>
              <p:nvPr/>
            </p:nvSpPr>
            <p:spPr>
              <a:xfrm>
                <a:off x="25836378" y="22028147"/>
                <a:ext cx="3022490" cy="2014983"/>
              </a:xfrm>
              <a:prstGeom prst="rightArrow">
                <a:avLst/>
              </a:prstGeom>
              <a:solidFill>
                <a:srgbClr val="77B5B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noProof="0" dirty="0"/>
              </a:p>
            </p:txBody>
          </p:sp>
          <p:pic>
            <p:nvPicPr>
              <p:cNvPr id="33" name="Grafik 32" descr="Ein Bild, das Diagramm, Reihe enthält.&#10;&#10;KI-generierte Inhalte können fehlerhaft sein.">
                <a:extLst>
                  <a:ext uri="{FF2B5EF4-FFF2-40B4-BE49-F238E27FC236}">
                    <a16:creationId xmlns:a16="http://schemas.microsoft.com/office/drawing/2014/main" id="{086FAB7E-FE8A-7EC9-2C11-AD76AD2CDD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19842" r="17881"/>
              <a:stretch>
                <a:fillRect/>
              </a:stretch>
            </p:blipFill>
            <p:spPr>
              <a:xfrm>
                <a:off x="29614549" y="20264914"/>
                <a:ext cx="10117089" cy="5556434"/>
              </a:xfrm>
              <a:prstGeom prst="rect">
                <a:avLst/>
              </a:prstGeom>
            </p:spPr>
          </p:pic>
          <p:pic>
            <p:nvPicPr>
              <p:cNvPr id="35" name="Grafik 34" descr="Ein Bild, das Text, Diagramm, Reihe, Zahl enthält.&#10;&#10;KI-generierte Inhalte können fehlerhaft sein.">
                <a:extLst>
                  <a:ext uri="{FF2B5EF4-FFF2-40B4-BE49-F238E27FC236}">
                    <a16:creationId xmlns:a16="http://schemas.microsoft.com/office/drawing/2014/main" id="{2D134739-50A0-B278-BAB2-1B5EFE10FA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936698" y="18592888"/>
                <a:ext cx="9144000" cy="9144000"/>
              </a:xfrm>
              <a:prstGeom prst="rect">
                <a:avLst/>
              </a:prstGeom>
              <a:effectLst>
                <a:outerShdw blurRad="723900" dist="114300" dir="2700000" algn="tl" rotWithShape="0">
                  <a:prstClr val="black">
                    <a:alpha val="10000"/>
                  </a:prstClr>
                </a:outerShdw>
              </a:effectLst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" name="Textfeld 67">
                  <a:extLst>
                    <a:ext uri="{FF2B5EF4-FFF2-40B4-BE49-F238E27FC236}">
                      <a16:creationId xmlns:a16="http://schemas.microsoft.com/office/drawing/2014/main" id="{3CE0858D-DDA4-8CEF-D093-D8377A10F934}"/>
                    </a:ext>
                  </a:extLst>
                </p:cNvPr>
                <p:cNvSpPr txBox="1"/>
                <p:nvPr/>
              </p:nvSpPr>
              <p:spPr>
                <a:xfrm>
                  <a:off x="2942758" y="10957313"/>
                  <a:ext cx="36707144" cy="7418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Bef>
                      <a:spcPts val="2000"/>
                    </a:spcBef>
                  </a:pPr>
                  <a:r>
                    <a:rPr lang="de-DE" sz="48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1. Für jede zu obfuskierende Funktion wird ein Parameter gewählt, dessen Werte sich nicht statisch bestimmen lassen.</a:t>
                  </a:r>
                </a:p>
                <a:p>
                  <a:pPr>
                    <a:spcBef>
                      <a:spcPts val="2000"/>
                    </a:spcBef>
                  </a:pPr>
                  <a:r>
                    <a:rPr lang="de-DE" sz="48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2. Über Bernsteinpolynome der Form  </a:t>
                  </a:r>
                </a:p>
                <a:p>
                  <a:pPr algn="ctr">
                    <a:spcBef>
                      <a:spcPts val="2000"/>
                    </a:spcBef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dPr>
                        <m:e>
                          <m: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𝑥</m:t>
                          </m:r>
                        </m:e>
                      </m:d>
                      <m:r>
                        <a:rPr lang="de-DE" sz="4800" i="1" noProof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naryPr>
                        <m:sub>
                          <m: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  <m: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=0</m:t>
                          </m:r>
                        </m:sub>
                        <m:sup>
                          <m: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de-DE" sz="4800" i="1" noProof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sSubPr>
                            <m:e>
                              <m:r>
                                <a:rPr lang="de-DE" sz="4800" i="1" noProof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e-DE" sz="4800" i="1" noProof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de-DE" sz="4800" i="1" noProof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de-DE" sz="4800" i="1" noProof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sz="4800" i="1" noProof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de-DE" sz="4800" i="1" noProof="0">
                                      <a:latin typeface="Cambria Math" panose="02040503050406030204" pitchFamily="18" charset="0"/>
                                      <a:cs typeface="Segoe UI" panose="020B0502040204020203" pitchFamily="34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</m:e>
                      </m:nary>
                      <m:sSup>
                        <m:sSupPr>
                          <m:ctrlP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𝑥</m:t>
                          </m:r>
                        </m:e>
                        <m:sup>
                          <m: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sz="4800" i="1" noProof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</m:ctrlPr>
                            </m:dPr>
                            <m:e>
                              <m:r>
                                <a:rPr lang="de-DE" sz="4800" i="1" noProof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1−</m:t>
                              </m:r>
                              <m:r>
                                <a:rPr lang="de-DE" sz="4800" i="1" noProof="0">
                                  <a:latin typeface="Cambria Math" panose="02040503050406030204" pitchFamily="18" charset="0"/>
                                  <a:cs typeface="Segoe UI" panose="020B0502040204020203" pitchFamily="34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m:rPr>
                              <m:lit/>
                            </m:rP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𝑛</m:t>
                          </m:r>
                          <m: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−</m:t>
                          </m:r>
                          <m:r>
                            <a:rPr lang="de-DE" sz="4800" i="1" noProof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𝑘</m:t>
                          </m:r>
                        </m:sup>
                      </m:sSup>
                    </m:oMath>
                  </a14:m>
                  <a:r>
                    <a:rPr lang="de-DE" sz="48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mit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de-DE" sz="48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≤</m:t>
                      </m:r>
                      <m:sSub>
                        <m:sSubPr>
                          <m:ctrlP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1</m:t>
                          </m:r>
                        </m:sub>
                      </m:sSub>
                      <m:r>
                        <a:rPr lang="de-DE" sz="480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≤⋯≤</m:t>
                      </m:r>
                      <m:sSub>
                        <m:sSubPr>
                          <m:ctrlP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𝑐</m:t>
                          </m:r>
                        </m:e>
                        <m:sub>
                          <m:r>
                            <a:rPr lang="de-DE" sz="480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de-DE" sz="48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und </a:t>
                  </a:r>
                  <a14:m>
                    <m:oMath xmlns:m="http://schemas.openxmlformats.org/officeDocument/2006/math">
                      <m:r>
                        <a:rPr lang="de-DE" sz="4800" b="0" i="0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𝑛</m:t>
                      </m:r>
                      <m:r>
                        <a:rPr lang="de-DE" sz="4800" b="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∈</m:t>
                      </m:r>
                      <m:r>
                        <a:rPr lang="de-DE" sz="48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" panose="020B0502040204020203" pitchFamily="34" charset="0"/>
                        </a:rPr>
                        <m:t>ℝ</m:t>
                      </m:r>
                    </m:oMath>
                  </a14:m>
                  <a:endParaRPr lang="de-DE" sz="4800" b="0" noProof="0" dirty="0">
                    <a:latin typeface="Segoe UI" panose="020B0502040204020203" pitchFamily="34" charset="0"/>
                    <a:ea typeface="Cambria Math" panose="02040503050406030204" pitchFamily="18" charset="0"/>
                    <a:cs typeface="Segoe UI" panose="020B0502040204020203" pitchFamily="34" charset="0"/>
                  </a:endParaRPr>
                </a:p>
                <a:p>
                  <a:pPr>
                    <a:spcBef>
                      <a:spcPts val="2000"/>
                    </a:spcBef>
                  </a:pPr>
                  <a:r>
                    <a:rPr lang="de-DE" sz="48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werden kumulative Verteilungsfunktionen generiert.</a:t>
                  </a:r>
                </a:p>
                <a:p>
                  <a:pPr>
                    <a:spcBef>
                      <a:spcPts val="2000"/>
                    </a:spcBef>
                  </a:pPr>
                  <a:r>
                    <a:rPr lang="de-DE" sz="48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3. Über die Inversionsmethode ist der Parameter (als Zufallsvariable betrachtet) nun gemäß der zu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de-DE" sz="4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de-DE" sz="4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𝐵</m:t>
                          </m:r>
                        </m:e>
                        <m:sub>
                          <m:r>
                            <a:rPr lang="de-DE" sz="4800" b="0" i="1" noProof="0" smtClean="0"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𝑛</m:t>
                          </m:r>
                        </m:sub>
                      </m:sSub>
                      <m:r>
                        <a:rPr lang="de-DE" sz="4800" b="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(</m:t>
                      </m:r>
                      <m:r>
                        <a:rPr lang="de-DE" sz="4800" b="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𝑥</m:t>
                      </m:r>
                      <m:r>
                        <a:rPr lang="de-DE" sz="4800" b="0" i="1" noProof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) </m:t>
                      </m:r>
                    </m:oMath>
                  </a14:m>
                  <a:r>
                    <a:rPr lang="de-DE" sz="48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zugeordneten Wahrscheinlichkeitsdichtefunktion verteilt.</a:t>
                  </a:r>
                </a:p>
                <a:p>
                  <a:pPr>
                    <a:spcBef>
                      <a:spcPts val="2000"/>
                    </a:spcBef>
                  </a:pPr>
                  <a:r>
                    <a:rPr lang="de-DE" sz="4800" noProof="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4. Da wir Kontrolle über die Verteilung der Zukunftsvariable haben können wir dafür Sorgen, dass bestimmte Intervalle/Werte besonders wahrscheinlich sind.</a:t>
                  </a:r>
                </a:p>
              </p:txBody>
            </p:sp>
          </mc:Choice>
          <mc:Fallback>
            <p:sp>
              <p:nvSpPr>
                <p:cNvPr id="68" name="Textfeld 67">
                  <a:extLst>
                    <a:ext uri="{FF2B5EF4-FFF2-40B4-BE49-F238E27FC236}">
                      <a16:creationId xmlns:a16="http://schemas.microsoft.com/office/drawing/2014/main" id="{3CE0858D-DDA4-8CEF-D093-D8377A10F9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2758" y="10957313"/>
                  <a:ext cx="36707144" cy="7418441"/>
                </a:xfrm>
                <a:prstGeom prst="rect">
                  <a:avLst/>
                </a:prstGeom>
                <a:blipFill>
                  <a:blip r:embed="rId9"/>
                  <a:stretch>
                    <a:fillRect l="-764" t="-1890" r="-1179" b="-3451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517A0754-78CB-F6B4-A8B2-A9B603675E20}"/>
                </a:ext>
              </a:extLst>
            </p:cNvPr>
            <p:cNvSpPr txBox="1"/>
            <p:nvPr/>
          </p:nvSpPr>
          <p:spPr>
            <a:xfrm>
              <a:off x="2639829" y="26910182"/>
              <a:ext cx="11340610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400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Kumulative Verteilungsfunktion (CDF) generieren </a:t>
              </a:r>
            </a:p>
          </p:txBody>
        </p: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823688D9-780C-A6B3-C5FB-5CA3FB7FA459}"/>
                </a:ext>
              </a:extLst>
            </p:cNvPr>
            <p:cNvSpPr txBox="1"/>
            <p:nvPr/>
          </p:nvSpPr>
          <p:spPr>
            <a:xfrm>
              <a:off x="13762591" y="26887922"/>
              <a:ext cx="1269520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400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Inversionsmethode</a:t>
              </a:r>
              <a:endParaRPr lang="de-DE" sz="4400" i="1" noProof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04281094-7275-EE6E-4629-919B5756161C}"/>
                </a:ext>
              </a:extLst>
            </p:cNvPr>
            <p:cNvSpPr txBox="1"/>
            <p:nvPr/>
          </p:nvSpPr>
          <p:spPr>
            <a:xfrm>
              <a:off x="26132157" y="26934088"/>
              <a:ext cx="13214816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400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Zufallsvariable ist nun gemäß entsprechender Wahrscheinlichkeitsdichtefunktion (PDF) verteilt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678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85686B15-A8C1-46FF-62E4-D7D8A6157B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551" y="11444993"/>
            <a:ext cx="9144000" cy="9144000"/>
          </a:xfrm>
          <a:prstGeom prst="rect">
            <a:avLst/>
          </a:prstGeom>
        </p:spPr>
      </p:pic>
      <p:pic>
        <p:nvPicPr>
          <p:cNvPr id="10" name="Grafik 9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B3170632-C81C-FBEC-945F-6D4383D5A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2425" y="10898766"/>
            <a:ext cx="9144000" cy="91440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E179847-DFF5-4F0C-8272-391452543319}"/>
              </a:ext>
            </a:extLst>
          </p:cNvPr>
          <p:cNvSpPr txBox="1"/>
          <p:nvPr/>
        </p:nvSpPr>
        <p:spPr>
          <a:xfrm>
            <a:off x="2385390" y="7643025"/>
            <a:ext cx="10853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noProof="0" dirty="0">
                <a:latin typeface="Segoe UI" panose="020B0502040204020203" pitchFamily="34" charset="0"/>
                <a:cs typeface="Segoe UI" panose="020B0502040204020203" pitchFamily="34" charset="0"/>
              </a:rPr>
              <a:t>Input: Funktionsparameter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865E479-BD6B-0B9C-608F-1172E501394C}"/>
              </a:ext>
            </a:extLst>
          </p:cNvPr>
          <p:cNvSpPr txBox="1"/>
          <p:nvPr/>
        </p:nvSpPr>
        <p:spPr>
          <a:xfrm>
            <a:off x="14743041" y="7181360"/>
            <a:ext cx="26762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noProof="0" dirty="0">
                <a:latin typeface="Segoe UI" panose="020B0502040204020203" pitchFamily="34" charset="0"/>
                <a:cs typeface="Segoe UI" panose="020B0502040204020203" pitchFamily="34" charset="0"/>
              </a:rPr>
              <a:t>Über die Inversionsmethode können Zufallsvariablen auf beliebigen Verteilungen liegen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091747B-7606-C1BD-8A39-C6D7FC446D9F}"/>
              </a:ext>
            </a:extLst>
          </p:cNvPr>
          <p:cNvSpPr txBox="1"/>
          <p:nvPr/>
        </p:nvSpPr>
        <p:spPr>
          <a:xfrm>
            <a:off x="2693123" y="23929296"/>
            <a:ext cx="37417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noProof="0" dirty="0">
                <a:latin typeface="Segoe UI" panose="020B0502040204020203" pitchFamily="34" charset="0"/>
                <a:cs typeface="Segoe UI" panose="020B0502040204020203" pitchFamily="34" charset="0"/>
              </a:rPr>
              <a:t>Über monoton steigende Bernsteinpolynome können valide kumulative Verteilungsfunktionen generiert werden</a:t>
            </a:r>
          </a:p>
        </p:txBody>
      </p:sp>
    </p:spTree>
    <p:extLst>
      <p:ext uri="{BB962C8B-B14F-4D97-AF65-F5344CB8AC3E}">
        <p14:creationId xmlns:p14="http://schemas.microsoft.com/office/powerpoint/2010/main" val="1966718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174</Words>
  <Application>Microsoft Office PowerPoint</Application>
  <PresentationFormat>Benutzerdefiniert</PresentationFormat>
  <Paragraphs>19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Segoe UI</vt:lpstr>
      <vt:lpstr>Office</vt:lpstr>
      <vt:lpstr>PowerPoint-Präsentation</vt:lpstr>
      <vt:lpstr>Konstruktionsschema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Moritz Baumgartner</dc:creator>
  <cp:lastModifiedBy>Paul Moritz Baumgartner</cp:lastModifiedBy>
  <cp:revision>63</cp:revision>
  <dcterms:created xsi:type="dcterms:W3CDTF">2026-01-30T15:02:29Z</dcterms:created>
  <dcterms:modified xsi:type="dcterms:W3CDTF">2026-02-01T18:43:13Z</dcterms:modified>
</cp:coreProperties>
</file>