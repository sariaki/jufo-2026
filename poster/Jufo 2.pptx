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4_16FF450C.xml" ContentType="application/vnd.ms-powerpoint.comments+xml"/>
  <Override PartName="/ppt/comments/modernComment_103_979A68B9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59" r:id="rId3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F6C34F-2DC2-B054-F9B5-BE8EDC4A1B09}" name="Paul Moritz Baumgartner" initials="PB" userId="S::Paul.2299@mariano-josephinum.net::fa8d80c5-339a-482e-ba3c-1cec7fa698f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4141"/>
    <a:srgbClr val="77B5B6"/>
    <a:srgbClr val="BE1818"/>
    <a:srgbClr val="262626"/>
    <a:srgbClr val="662D91"/>
    <a:srgbClr val="F68B1F"/>
    <a:srgbClr val="EFEFEF"/>
    <a:srgbClr val="4A148C"/>
    <a:srgbClr val="263238"/>
    <a:srgbClr val="006A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9" autoAdjust="0"/>
    <p:restoredTop sz="94668" autoAdjust="0"/>
  </p:normalViewPr>
  <p:slideViewPr>
    <p:cSldViewPr snapToGrid="0">
      <p:cViewPr varScale="1">
        <p:scale>
          <a:sx n="18" d="100"/>
          <a:sy n="18" d="100"/>
        </p:scale>
        <p:origin x="3024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3_979A68B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4A25906-2570-4E2B-812E-B132670473A5}" authorId="{9AF6C34F-2DC2-B054-F9B5-BE8EDC4A1B09}" created="2026-02-01T18:54:35.811">
    <pc:sldMkLst xmlns:pc="http://schemas.microsoft.com/office/powerpoint/2013/main/command">
      <pc:docMk/>
      <pc:sldMk cId="2234309281" sldId="257"/>
    </pc:sldMkLst>
    <p188:txBody>
      <a:bodyPr/>
      <a:lstStyle/>
      <a:p>
        <a:r>
          <a:rPr lang="de-DE"/>
          <a:t>TODO: Akzent fehlt, ich will aber nicht vom Hauptplakat ablenken</a:t>
        </a:r>
      </a:p>
    </p188:txBody>
  </p188:cm>
</p188:cmLst>
</file>

<file path=ppt/comments/modernComment_104_16FF450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50D8822-B26E-450F-883B-EF6A82AD4985}" authorId="{9AF6C34F-2DC2-B054-F9B5-BE8EDC4A1B09}" created="2026-02-01T18:44:09.78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5828108" sldId="260"/>
      <ac:spMk id="3" creationId="{540B08C8-BDEE-E950-3167-3D07CF0D53B1}"/>
    </ac:deMkLst>
    <p188:txBody>
      <a:bodyPr/>
      <a:lstStyle/>
      <a:p>
        <a:r>
          <a:rPr lang="de-DE"/>
          <a:t>TODO: “Ziel: Über die Einbindung von Wahrscheinlichkeit eine statische Analyse (symbolische Ausführung) verhindern”</a:t>
        </a:r>
      </a:p>
    </p188:txBody>
  </p188:cm>
  <p188:cm id="{ED924FC8-0FA6-4259-BEFC-60F0A21155D9}" authorId="{9AF6C34F-2DC2-B054-F9B5-BE8EDC4A1B09}" created="2026-02-01T18:53:16.43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5828108" sldId="260"/>
      <ac:picMk id="9" creationId="{947FC2EE-1976-4BBF-B8F0-710D3F87A805}"/>
    </ac:deMkLst>
    <p188:txBody>
      <a:bodyPr/>
      <a:lstStyle/>
      <a:p>
        <a:r>
          <a:rPr lang="de-DE"/>
          <a:t>TODO: “beliebiges wahrscheinliches/unwahrscheinliches Ereignis”</a:t>
        </a:r>
      </a:p>
    </p188:txBody>
  </p188:cm>
  <p188:cm id="{43027E9F-3F28-4029-9CF0-D69E855CA7A0}" authorId="{9AF6C34F-2DC2-B054-F9B5-BE8EDC4A1B09}" created="2026-02-01T19:19:02.628">
    <pc:sldMkLst xmlns:pc="http://schemas.microsoft.com/office/powerpoint/2013/main/command">
      <pc:docMk/>
      <pc:sldMk cId="662819743" sldId="256"/>
    </pc:sldMkLst>
    <p188:txBody>
      <a:bodyPr/>
      <a:lstStyle/>
      <a:p>
        <a:r>
          <a:rPr lang="de-DE"/>
          <a:t>TODO: Bei Fakten Quellenverweise?</a:t>
        </a:r>
      </a:p>
    </p188:txBody>
  </p188:cm>
  <p188:cm id="{E4685872-D4FB-4541-8F69-97F427FC2771}" authorId="{9AF6C34F-2DC2-B054-F9B5-BE8EDC4A1B09}" created="2026-02-02T16:16:51.48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5828108" sldId="260"/>
      <ac:picMk id="6" creationId="{9960482E-9C56-42B6-E3AC-AD7EAE97B916}"/>
    </ac:deMkLst>
    <p188:txBody>
      <a:bodyPr/>
      <a:lstStyle/>
      <a:p>
        <a:r>
          <a:rPr lang="de-DE"/>
          <a:t>TODO: Tabelle mit Resistenz</a:t>
        </a:r>
      </a:p>
    </p188:txBody>
  </p188:cm>
  <p188:cm id="{BCA9888E-0531-454F-937C-955D482CA2C3}" authorId="{9AF6C34F-2DC2-B054-F9B5-BE8EDC4A1B09}" created="2026-02-03T20:17:11.1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5828108" sldId="260"/>
      <ac:spMk id="51" creationId="{683DC669-1EF7-2E41-FA93-746ABBB670C8}"/>
    </ac:deMkLst>
    <p188:txBody>
      <a:bodyPr/>
      <a:lstStyle/>
      <a:p>
        <a:r>
          <a:rPr lang="de-DE"/>
          <a:t>TODO: Text zu klein!!!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2" y="7005156"/>
            <a:ext cx="25733931" cy="14902051"/>
          </a:xfrm>
        </p:spPr>
        <p:txBody>
          <a:bodyPr anchor="b"/>
          <a:lstStyle>
            <a:lvl1pPr algn="ctr">
              <a:defRPr sz="198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8"/>
            <a:ext cx="22706410" cy="10334331"/>
          </a:xfrm>
        </p:spPr>
        <p:txBody>
          <a:bodyPr/>
          <a:lstStyle>
            <a:lvl1pPr marL="0" indent="0" algn="ctr">
              <a:buNone/>
              <a:defRPr sz="7945"/>
            </a:lvl1pPr>
            <a:lvl2pPr marL="1513636" indent="0" algn="ctr">
              <a:buNone/>
              <a:defRPr sz="6621"/>
            </a:lvl2pPr>
            <a:lvl3pPr marL="3027273" indent="0" algn="ctr">
              <a:buNone/>
              <a:defRPr sz="5959"/>
            </a:lvl3pPr>
            <a:lvl4pPr marL="4540910" indent="0" algn="ctr">
              <a:buNone/>
              <a:defRPr sz="5296"/>
            </a:lvl4pPr>
            <a:lvl5pPr marL="6054547" indent="0" algn="ctr">
              <a:buNone/>
              <a:defRPr sz="5296"/>
            </a:lvl5pPr>
            <a:lvl6pPr marL="7568183" indent="0" algn="ctr">
              <a:buNone/>
              <a:defRPr sz="5296"/>
            </a:lvl6pPr>
            <a:lvl7pPr marL="9081820" indent="0" algn="ctr">
              <a:buNone/>
              <a:defRPr sz="5296"/>
            </a:lvl7pPr>
            <a:lvl8pPr marL="10595456" indent="0" algn="ctr">
              <a:buNone/>
              <a:defRPr sz="5296"/>
            </a:lvl8pPr>
            <a:lvl9pPr marL="12109093" indent="0" algn="ctr">
              <a:buNone/>
              <a:defRPr sz="5296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7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00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30"/>
            <a:ext cx="26112371" cy="17805173"/>
          </a:xfrm>
        </p:spPr>
        <p:txBody>
          <a:bodyPr anchor="b"/>
          <a:lstStyle>
            <a:lvl1pPr>
              <a:defRPr sz="198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7"/>
            <a:ext cx="26112371" cy="9363320"/>
          </a:xfrm>
        </p:spPr>
        <p:txBody>
          <a:bodyPr/>
          <a:lstStyle>
            <a:lvl1pPr marL="0" indent="0">
              <a:buNone/>
              <a:defRPr sz="7945">
                <a:solidFill>
                  <a:schemeClr val="tx1"/>
                </a:solidFill>
              </a:defRPr>
            </a:lvl1pPr>
            <a:lvl2pPr marL="1513636" indent="0">
              <a:buNone/>
              <a:defRPr sz="6621">
                <a:solidFill>
                  <a:schemeClr val="tx1">
                    <a:tint val="75000"/>
                  </a:schemeClr>
                </a:solidFill>
              </a:defRPr>
            </a:lvl2pPr>
            <a:lvl3pPr marL="3027273" indent="0">
              <a:buNone/>
              <a:defRPr sz="5959">
                <a:solidFill>
                  <a:schemeClr val="tx1">
                    <a:tint val="75000"/>
                  </a:schemeClr>
                </a:solidFill>
              </a:defRPr>
            </a:lvl3pPr>
            <a:lvl4pPr marL="4540910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4pPr>
            <a:lvl5pPr marL="6054547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5pPr>
            <a:lvl6pPr marL="7568183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6pPr>
            <a:lvl7pPr marL="9081820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7pPr>
            <a:lvl8pPr marL="10595456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8pPr>
            <a:lvl9pPr marL="12109093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68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6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5" y="2278913"/>
            <a:ext cx="26112371" cy="82734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1"/>
            <a:ext cx="12807832" cy="5142393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636" indent="0">
              <a:buNone/>
              <a:defRPr sz="6621" b="1"/>
            </a:lvl2pPr>
            <a:lvl3pPr marL="3027273" indent="0">
              <a:buNone/>
              <a:defRPr sz="5959" b="1"/>
            </a:lvl3pPr>
            <a:lvl4pPr marL="4540910" indent="0">
              <a:buNone/>
              <a:defRPr sz="5296" b="1"/>
            </a:lvl4pPr>
            <a:lvl5pPr marL="6054547" indent="0">
              <a:buNone/>
              <a:defRPr sz="5296" b="1"/>
            </a:lvl5pPr>
            <a:lvl6pPr marL="7568183" indent="0">
              <a:buNone/>
              <a:defRPr sz="5296" b="1"/>
            </a:lvl6pPr>
            <a:lvl7pPr marL="9081820" indent="0">
              <a:buNone/>
              <a:defRPr sz="5296" b="1"/>
            </a:lvl7pPr>
            <a:lvl8pPr marL="10595456" indent="0">
              <a:buNone/>
              <a:defRPr sz="5296" b="1"/>
            </a:lvl8pPr>
            <a:lvl9pPr marL="12109093" indent="0">
              <a:buNone/>
              <a:defRPr sz="529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1"/>
            <a:ext cx="12870909" cy="5142393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636" indent="0">
              <a:buNone/>
              <a:defRPr sz="6621" b="1"/>
            </a:lvl2pPr>
            <a:lvl3pPr marL="3027273" indent="0">
              <a:buNone/>
              <a:defRPr sz="5959" b="1"/>
            </a:lvl3pPr>
            <a:lvl4pPr marL="4540910" indent="0">
              <a:buNone/>
              <a:defRPr sz="5296" b="1"/>
            </a:lvl4pPr>
            <a:lvl5pPr marL="6054547" indent="0">
              <a:buNone/>
              <a:defRPr sz="5296" b="1"/>
            </a:lvl5pPr>
            <a:lvl6pPr marL="7568183" indent="0">
              <a:buNone/>
              <a:defRPr sz="5296" b="1"/>
            </a:lvl6pPr>
            <a:lvl7pPr marL="9081820" indent="0">
              <a:buNone/>
              <a:defRPr sz="5296" b="1"/>
            </a:lvl7pPr>
            <a:lvl8pPr marL="10595456" indent="0">
              <a:buNone/>
              <a:defRPr sz="5296" b="1"/>
            </a:lvl8pPr>
            <a:lvl9pPr marL="12109093" indent="0">
              <a:buNone/>
              <a:defRPr sz="529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8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2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16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10" y="6162959"/>
            <a:ext cx="15326827" cy="30418415"/>
          </a:xfrm>
        </p:spPr>
        <p:txBody>
          <a:bodyPr/>
          <a:lstStyle>
            <a:lvl1pPr>
              <a:defRPr sz="10594"/>
            </a:lvl1pPr>
            <a:lvl2pPr>
              <a:defRPr sz="9270"/>
            </a:lvl2pPr>
            <a:lvl3pPr>
              <a:defRPr sz="7945"/>
            </a:lvl3pPr>
            <a:lvl4pPr>
              <a:defRPr sz="6621"/>
            </a:lvl4pPr>
            <a:lvl5pPr>
              <a:defRPr sz="6621"/>
            </a:lvl5pPr>
            <a:lvl6pPr>
              <a:defRPr sz="6621"/>
            </a:lvl6pPr>
            <a:lvl7pPr>
              <a:defRPr sz="6621"/>
            </a:lvl7pPr>
            <a:lvl8pPr>
              <a:defRPr sz="6621"/>
            </a:lvl8pPr>
            <a:lvl9pPr>
              <a:defRPr sz="6621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6"/>
            </a:lvl1pPr>
            <a:lvl2pPr marL="1513636" indent="0">
              <a:buNone/>
              <a:defRPr sz="4635"/>
            </a:lvl2pPr>
            <a:lvl3pPr marL="3027273" indent="0">
              <a:buNone/>
              <a:defRPr sz="3973"/>
            </a:lvl3pPr>
            <a:lvl4pPr marL="4540910" indent="0">
              <a:buNone/>
              <a:defRPr sz="3311"/>
            </a:lvl4pPr>
            <a:lvl5pPr marL="6054547" indent="0">
              <a:buNone/>
              <a:defRPr sz="3311"/>
            </a:lvl5pPr>
            <a:lvl6pPr marL="7568183" indent="0">
              <a:buNone/>
              <a:defRPr sz="3311"/>
            </a:lvl6pPr>
            <a:lvl7pPr marL="9081820" indent="0">
              <a:buNone/>
              <a:defRPr sz="3311"/>
            </a:lvl7pPr>
            <a:lvl8pPr marL="10595456" indent="0">
              <a:buNone/>
              <a:defRPr sz="3311"/>
            </a:lvl8pPr>
            <a:lvl9pPr marL="12109093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36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10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4"/>
            </a:lvl1pPr>
            <a:lvl2pPr marL="1513636" indent="0">
              <a:buNone/>
              <a:defRPr sz="9270"/>
            </a:lvl2pPr>
            <a:lvl3pPr marL="3027273" indent="0">
              <a:buNone/>
              <a:defRPr sz="7945"/>
            </a:lvl3pPr>
            <a:lvl4pPr marL="4540910" indent="0">
              <a:buNone/>
              <a:defRPr sz="6621"/>
            </a:lvl4pPr>
            <a:lvl5pPr marL="6054547" indent="0">
              <a:buNone/>
              <a:defRPr sz="6621"/>
            </a:lvl5pPr>
            <a:lvl6pPr marL="7568183" indent="0">
              <a:buNone/>
              <a:defRPr sz="6621"/>
            </a:lvl6pPr>
            <a:lvl7pPr marL="9081820" indent="0">
              <a:buNone/>
              <a:defRPr sz="6621"/>
            </a:lvl7pPr>
            <a:lvl8pPr marL="10595456" indent="0">
              <a:buNone/>
              <a:defRPr sz="6621"/>
            </a:lvl8pPr>
            <a:lvl9pPr marL="12109093" indent="0">
              <a:buNone/>
              <a:defRPr sz="6621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6"/>
            </a:lvl1pPr>
            <a:lvl2pPr marL="1513636" indent="0">
              <a:buNone/>
              <a:defRPr sz="4635"/>
            </a:lvl2pPr>
            <a:lvl3pPr marL="3027273" indent="0">
              <a:buNone/>
              <a:defRPr sz="3973"/>
            </a:lvl3pPr>
            <a:lvl4pPr marL="4540910" indent="0">
              <a:buNone/>
              <a:defRPr sz="3311"/>
            </a:lvl4pPr>
            <a:lvl5pPr marL="6054547" indent="0">
              <a:buNone/>
              <a:defRPr sz="3311"/>
            </a:lvl5pPr>
            <a:lvl6pPr marL="7568183" indent="0">
              <a:buNone/>
              <a:defRPr sz="3311"/>
            </a:lvl6pPr>
            <a:lvl7pPr marL="9081820" indent="0">
              <a:buNone/>
              <a:defRPr sz="3311"/>
            </a:lvl7pPr>
            <a:lvl8pPr marL="10595456" indent="0">
              <a:buNone/>
              <a:defRPr sz="3311"/>
            </a:lvl8pPr>
            <a:lvl9pPr marL="12109093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1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2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2" y="2278905"/>
            <a:ext cx="6528093" cy="3627421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5"/>
            <a:ext cx="19205838" cy="3627421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1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2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2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70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82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273" rtl="0" eaLnBrk="1" latinLnBrk="0" hangingPunct="1">
        <a:lnSpc>
          <a:spcPct val="90000"/>
        </a:lnSpc>
        <a:spcBef>
          <a:spcPct val="0"/>
        </a:spcBef>
        <a:buNone/>
        <a:defRPr sz="145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19" indent="-756819" algn="l" defTabSz="3027273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0" kern="1200">
          <a:solidFill>
            <a:schemeClr val="tx1"/>
          </a:solidFill>
          <a:latin typeface="+mn-lt"/>
          <a:ea typeface="+mn-ea"/>
          <a:cs typeface="+mn-cs"/>
        </a:defRPr>
      </a:lvl1pPr>
      <a:lvl2pPr marL="227045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5" kern="1200">
          <a:solidFill>
            <a:schemeClr val="tx1"/>
          </a:solidFill>
          <a:latin typeface="+mn-lt"/>
          <a:ea typeface="+mn-ea"/>
          <a:cs typeface="+mn-cs"/>
        </a:defRPr>
      </a:lvl2pPr>
      <a:lvl3pPr marL="3784092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1" kern="1200">
          <a:solidFill>
            <a:schemeClr val="tx1"/>
          </a:solidFill>
          <a:latin typeface="+mn-lt"/>
          <a:ea typeface="+mn-ea"/>
          <a:cs typeface="+mn-cs"/>
        </a:defRPr>
      </a:lvl3pPr>
      <a:lvl4pPr marL="5297728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81136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8325001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838639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135227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865912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1pPr>
      <a:lvl2pPr marL="1513636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2pPr>
      <a:lvl3pPr marL="302727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3pPr>
      <a:lvl4pPr marL="454091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054547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756818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08182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0595456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10909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microsoft.com/office/2018/10/relationships/comments" Target="../comments/modernComment_104_16FF450C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microsoft.com/office/2018/10/relationships/comments" Target="../comments/modernComment_103_979A68B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09CDE-92D7-6F78-22D2-124D116D5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90DA43D-5F6F-4B02-44F7-ED04CB4A11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13033" y="10650786"/>
            <a:ext cx="27852588" cy="1075109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200" noProof="0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801FAC1A-D6A0-E798-6E0C-CC95B15BC29F}"/>
              </a:ext>
            </a:extLst>
          </p:cNvPr>
          <p:cNvGrpSpPr/>
          <p:nvPr/>
        </p:nvGrpSpPr>
        <p:grpSpPr>
          <a:xfrm>
            <a:off x="0" y="-64708"/>
            <a:ext cx="30275212" cy="3409387"/>
            <a:chOff x="0" y="-64708"/>
            <a:chExt cx="30275212" cy="340938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32C207-C562-A2C6-C19E-B4949A621351}"/>
                </a:ext>
              </a:extLst>
            </p:cNvPr>
            <p:cNvSpPr>
              <a:spLocks/>
            </p:cNvSpPr>
            <p:nvPr/>
          </p:nvSpPr>
          <p:spPr>
            <a:xfrm>
              <a:off x="0" y="-64708"/>
              <a:ext cx="30275212" cy="3409387"/>
            </a:xfrm>
            <a:prstGeom prst="rect">
              <a:avLst/>
            </a:prstGeom>
            <a:solidFill>
              <a:srgbClr val="E7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03" noProof="0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32756E1-0112-7209-4BE5-CD54660B67FD}"/>
                </a:ext>
              </a:extLst>
            </p:cNvPr>
            <p:cNvSpPr>
              <a:spLocks/>
            </p:cNvSpPr>
            <p:nvPr/>
          </p:nvSpPr>
          <p:spPr>
            <a:xfrm>
              <a:off x="944436" y="364876"/>
              <a:ext cx="28559786" cy="22411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de-DE" sz="11999" b="1" noProof="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Wie sicher ist Ihre Software wirklich?</a:t>
              </a:r>
              <a:endParaRPr lang="de-DE" sz="11999" noProof="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40B08C8-BDEE-E950-3167-3D07CF0D53B1}"/>
              </a:ext>
            </a:extLst>
          </p:cNvPr>
          <p:cNvSpPr txBox="1"/>
          <p:nvPr/>
        </p:nvSpPr>
        <p:spPr>
          <a:xfrm>
            <a:off x="1313032" y="5511349"/>
            <a:ext cx="27822593" cy="44521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432502" tIns="432502" rIns="432502" bIns="43250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Problem: </a:t>
            </a:r>
          </a:p>
          <a:p>
            <a:pPr marL="571460" indent="-57146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Aktuelle Softwareverschleierungsmethoden (opake Prädikate) sind nicht resistent gegenüber</a:t>
            </a:r>
            <a:r>
              <a:rPr lang="en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</a:t>
            </a:r>
            <a:r>
              <a:rPr lang="en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bestimmten</a:t>
            </a:r>
            <a:r>
              <a:rPr lang="en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</a:t>
            </a:r>
            <a:r>
              <a:rPr lang="en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Angriffsmethoden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</a:t>
            </a:r>
            <a:r>
              <a:rPr lang="en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(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symbolischer Ausführung</a:t>
            </a:r>
            <a:r>
              <a:rPr lang="en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)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 Möglichkeit, Software zu verstehen &amp; zu rekonstruieren</a:t>
            </a:r>
          </a:p>
          <a:p>
            <a:pPr marL="571460" indent="-57146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~1.5 Mrd. Euro an </a:t>
            </a:r>
            <a:r>
              <a:rPr lang="en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Umsatz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 gehen jährlich in der EU durch Reverse Engineering/</a:t>
            </a:r>
            <a:r>
              <a:rPr lang="de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Cracking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 verloren</a:t>
            </a:r>
            <a:r>
              <a:rPr lang="en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 [1]</a:t>
            </a:r>
            <a:endParaRPr lang="de-DE" sz="4000" noProof="0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52097C-C854-5255-1CF2-F0952302D6BB}"/>
              </a:ext>
            </a:extLst>
          </p:cNvPr>
          <p:cNvSpPr txBox="1"/>
          <p:nvPr/>
        </p:nvSpPr>
        <p:spPr>
          <a:xfrm>
            <a:off x="1770200" y="4033334"/>
            <a:ext cx="25287464" cy="105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243" i="1" noProof="0" dirty="0">
                <a:solidFill>
                  <a:srgbClr val="26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POP: Probabilistische opake Prädikate gegen symbolische Ausführung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BA3CC93-3042-B1CD-2A38-3EFE4F975883}"/>
              </a:ext>
            </a:extLst>
          </p:cNvPr>
          <p:cNvGrpSpPr/>
          <p:nvPr/>
        </p:nvGrpSpPr>
        <p:grpSpPr>
          <a:xfrm>
            <a:off x="1313031" y="21836650"/>
            <a:ext cx="27822591" cy="20074639"/>
            <a:chOff x="1313030" y="21789617"/>
            <a:chExt cx="28867498" cy="20828563"/>
          </a:xfrm>
        </p:grpSpPr>
        <p:sp>
          <p:nvSpPr>
            <p:cNvPr id="15" name="TextBox 31">
              <a:extLst>
                <a:ext uri="{FF2B5EF4-FFF2-40B4-BE49-F238E27FC236}">
                  <a16:creationId xmlns:a16="http://schemas.microsoft.com/office/drawing/2014/main" id="{3991CC1D-BE83-02E0-DB26-F7401DE6C385}"/>
                </a:ext>
              </a:extLst>
            </p:cNvPr>
            <p:cNvSpPr txBox="1"/>
            <p:nvPr/>
          </p:nvSpPr>
          <p:spPr>
            <a:xfrm>
              <a:off x="1313030" y="21789617"/>
              <a:ext cx="14343772" cy="1892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4000" noProof="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Ergebnis 1: 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Der </a:t>
              </a:r>
              <a:r>
                <a:rPr lang="de-DE" sz="4000" b="1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mediane Laufzeitimpakt 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der neuen </a:t>
              </a:r>
              <a:r>
                <a:rPr lang="de-DE" sz="4000" noProof="0" dirty="0" err="1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Obfuskation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ist </a:t>
              </a:r>
              <a:r>
                <a:rPr lang="de-DE" sz="4000" b="1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gering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. Die Varianz ist allerdings groß.</a:t>
              </a:r>
            </a:p>
          </p:txBody>
        </p:sp>
        <p:sp>
          <p:nvSpPr>
            <p:cNvPr id="16" name="TextBox 32">
              <a:extLst>
                <a:ext uri="{FF2B5EF4-FFF2-40B4-BE49-F238E27FC236}">
                  <a16:creationId xmlns:a16="http://schemas.microsoft.com/office/drawing/2014/main" id="{6D9D6EC9-71CC-AAB9-7828-203668383F95}"/>
                </a:ext>
              </a:extLst>
            </p:cNvPr>
            <p:cNvSpPr txBox="1"/>
            <p:nvPr/>
          </p:nvSpPr>
          <p:spPr>
            <a:xfrm>
              <a:off x="15137604" y="21789618"/>
              <a:ext cx="15042924" cy="2850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4000" noProof="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Ergebnis 2: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Trotz der geringen Wahrscheinlichkeit, dass die POP-Prädikate den falschen Wert annehmen, </a:t>
              </a:r>
              <a:r>
                <a:rPr lang="de-DE" sz="4000" b="1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funktionieren alle Programme 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.</a:t>
              </a:r>
              <a:endPara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73B3CE45-0AA7-B307-3263-E4E6D7DDC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27228" y="24705222"/>
              <a:ext cx="9362621" cy="7802184"/>
            </a:xfrm>
            <a:prstGeom prst="rect">
              <a:avLst/>
            </a:prstGeom>
            <a:effectLst>
              <a:outerShdw blurRad="723900" dist="114300" dir="2700000" algn="ctr" rotWithShape="0">
                <a:schemeClr val="tx1">
                  <a:alpha val="10000"/>
                </a:schemeClr>
              </a:outerShdw>
            </a:effectLst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E62CEB89-CBD4-DD55-75DA-E503722A2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455302" y="24705222"/>
              <a:ext cx="9362621" cy="7802184"/>
            </a:xfrm>
            <a:prstGeom prst="rect">
              <a:avLst/>
            </a:prstGeom>
            <a:effectLst>
              <a:outerShdw blurRad="723900" dist="114300" dir="2700000" algn="ctr" rotWithShape="0">
                <a:schemeClr val="tx1">
                  <a:alpha val="10000"/>
                </a:schemeClr>
              </a:outerShdw>
            </a:effectLst>
          </p:spPr>
        </p:pic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A593D394-D4DC-B120-FE96-AC385AD8F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98583" y="34815996"/>
              <a:ext cx="9362621" cy="7802184"/>
            </a:xfrm>
            <a:prstGeom prst="rect">
              <a:avLst/>
            </a:prstGeom>
            <a:effectLst>
              <a:outerShdw blurRad="723900" dist="114300" dir="2700000" algn="ctr" rotWithShape="0">
                <a:schemeClr val="tx1">
                  <a:alpha val="10000"/>
                </a:schemeClr>
              </a:outerShdw>
            </a:effectLst>
          </p:spPr>
        </p:pic>
        <p:sp>
          <p:nvSpPr>
            <p:cNvPr id="30" name="TextBox 31">
              <a:extLst>
                <a:ext uri="{FF2B5EF4-FFF2-40B4-BE49-F238E27FC236}">
                  <a16:creationId xmlns:a16="http://schemas.microsoft.com/office/drawing/2014/main" id="{1E1F6667-492E-5B92-6619-F7314B41D794}"/>
                </a:ext>
              </a:extLst>
            </p:cNvPr>
            <p:cNvSpPr txBox="1"/>
            <p:nvPr/>
          </p:nvSpPr>
          <p:spPr>
            <a:xfrm>
              <a:off x="1313030" y="32654058"/>
              <a:ext cx="14343772" cy="1892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4000" noProof="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Ergebnis 3: 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Der </a:t>
              </a:r>
              <a:r>
                <a:rPr lang="de-DE" sz="4000" b="1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mediane Speicherimpakt 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der neuen </a:t>
              </a:r>
              <a:r>
                <a:rPr lang="de-DE" sz="4000" noProof="0" dirty="0" err="1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Obfuskation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ist </a:t>
              </a:r>
              <a:r>
                <a:rPr lang="de-DE" sz="4000" b="1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gering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. Die Varianz ist allerdings groß.</a:t>
              </a:r>
            </a:p>
          </p:txBody>
        </p:sp>
        <p:sp>
          <p:nvSpPr>
            <p:cNvPr id="40" name="TextBox 31">
              <a:extLst>
                <a:ext uri="{FF2B5EF4-FFF2-40B4-BE49-F238E27FC236}">
                  <a16:creationId xmlns:a16="http://schemas.microsoft.com/office/drawing/2014/main" id="{4C7480C9-BC8F-36AC-8E1D-84396F33223A}"/>
                </a:ext>
              </a:extLst>
            </p:cNvPr>
            <p:cNvSpPr txBox="1"/>
            <p:nvPr/>
          </p:nvSpPr>
          <p:spPr>
            <a:xfrm>
              <a:off x="15290417" y="32712966"/>
              <a:ext cx="14890111" cy="18243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4000" noProof="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Ergebnis 4: 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Der </a:t>
              </a:r>
              <a:r>
                <a:rPr lang="de-DE" sz="4000" b="1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eingefügte Programmcode unterscheidet sich statistisch 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von regulären Programmen.</a:t>
              </a:r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9960482E-9C56-42B6-E3AC-AD7EAE97B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5615793" y="34815996"/>
              <a:ext cx="13192289" cy="7695502"/>
            </a:xfrm>
            <a:prstGeom prst="rect">
              <a:avLst/>
            </a:prstGeom>
            <a:effectLst>
              <a:outerShdw blurRad="723900" dist="114300" dir="2700000" algn="tl" rotWithShape="0">
                <a:prstClr val="black">
                  <a:alpha val="10000"/>
                </a:prstClr>
              </a:outerShdw>
            </a:effectLst>
          </p:spPr>
        </p:pic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D76304AD-446C-8600-910C-01F1EBFFD72A}"/>
              </a:ext>
            </a:extLst>
          </p:cNvPr>
          <p:cNvGrpSpPr/>
          <p:nvPr/>
        </p:nvGrpSpPr>
        <p:grpSpPr>
          <a:xfrm>
            <a:off x="3115513" y="10695004"/>
            <a:ext cx="25248289" cy="10548983"/>
            <a:chOff x="3592146" y="10691577"/>
            <a:chExt cx="25248289" cy="1054898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BAABF62B-0624-B880-9EAA-18E0F16D5B5B}"/>
                </a:ext>
              </a:extLst>
            </p:cNvPr>
            <p:cNvGrpSpPr/>
            <p:nvPr/>
          </p:nvGrpSpPr>
          <p:grpSpPr>
            <a:xfrm>
              <a:off x="11682780" y="10691577"/>
              <a:ext cx="6346208" cy="10548983"/>
              <a:chOff x="11682780" y="10691577"/>
              <a:chExt cx="6346208" cy="10548983"/>
            </a:xfrm>
          </p:grpSpPr>
          <p:grpSp>
            <p:nvGrpSpPr>
              <p:cNvPr id="64" name="Gruppieren 63">
                <a:extLst>
                  <a:ext uri="{FF2B5EF4-FFF2-40B4-BE49-F238E27FC236}">
                    <a16:creationId xmlns:a16="http://schemas.microsoft.com/office/drawing/2014/main" id="{AE369276-41FB-2ED6-5B9C-401E1377C24C}"/>
                  </a:ext>
                </a:extLst>
              </p:cNvPr>
              <p:cNvGrpSpPr/>
              <p:nvPr/>
            </p:nvGrpSpPr>
            <p:grpSpPr>
              <a:xfrm>
                <a:off x="11682780" y="11495127"/>
                <a:ext cx="6247134" cy="9745433"/>
                <a:chOff x="11682780" y="11495127"/>
                <a:chExt cx="6247134" cy="9745433"/>
              </a:xfrm>
            </p:grpSpPr>
            <p:grpSp>
              <p:nvGrpSpPr>
                <p:cNvPr id="45" name="Gruppieren 44">
                  <a:extLst>
                    <a:ext uri="{FF2B5EF4-FFF2-40B4-BE49-F238E27FC236}">
                      <a16:creationId xmlns:a16="http://schemas.microsoft.com/office/drawing/2014/main" id="{A767E0F4-3913-4872-B50F-DC7B04FBEE63}"/>
                    </a:ext>
                  </a:extLst>
                </p:cNvPr>
                <p:cNvGrpSpPr/>
                <p:nvPr/>
              </p:nvGrpSpPr>
              <p:grpSpPr>
                <a:xfrm>
                  <a:off x="11682780" y="11495127"/>
                  <a:ext cx="6247134" cy="9745433"/>
                  <a:chOff x="11682780" y="11495127"/>
                  <a:chExt cx="6247134" cy="9745433"/>
                </a:xfrm>
              </p:grpSpPr>
              <p:grpSp>
                <p:nvGrpSpPr>
                  <p:cNvPr id="44" name="Gruppieren 43">
                    <a:extLst>
                      <a:ext uri="{FF2B5EF4-FFF2-40B4-BE49-F238E27FC236}">
                        <a16:creationId xmlns:a16="http://schemas.microsoft.com/office/drawing/2014/main" id="{95E6654B-0A47-47CC-7408-473AE73BD662}"/>
                      </a:ext>
                    </a:extLst>
                  </p:cNvPr>
                  <p:cNvGrpSpPr/>
                  <p:nvPr/>
                </p:nvGrpSpPr>
                <p:grpSpPr>
                  <a:xfrm>
                    <a:off x="11682780" y="11495127"/>
                    <a:ext cx="6247134" cy="9745433"/>
                    <a:chOff x="11682780" y="11495127"/>
                    <a:chExt cx="6247134" cy="9745433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1" name="Flussdiagramm: Verzweigung 50">
                          <a:extLst>
                            <a:ext uri="{FF2B5EF4-FFF2-40B4-BE49-F238E27FC236}">
                              <a16:creationId xmlns:a16="http://schemas.microsoft.com/office/drawing/2014/main" id="{683DC669-1EF7-2E41-FA93-746ABBB670C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820152" y="15570712"/>
                          <a:ext cx="2394349" cy="2464770"/>
                        </a:xfrm>
                        <a:prstGeom prst="flowChartDecision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de-DE" sz="2800" i="1" noProof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sz="2800" i="1" noProof="0">
                                    <a:latin typeface="Cambria Math" panose="02040503050406030204" pitchFamily="18" charset="0"/>
                                  </a:rPr>
                                  <m:t>=2?</m:t>
                                </m:r>
                              </m:oMath>
                            </m:oMathPara>
                          </a14:m>
                          <a:endParaRPr lang="de-DE" sz="3200" noProof="0" dirty="0"/>
                        </a:p>
                      </p:txBody>
                    </p:sp>
                  </mc:Choice>
                  <mc:Fallback xmlns="">
                    <p:sp>
                      <p:nvSpPr>
                        <p:cNvPr id="51" name="Flussdiagramm: Verzweigung 50">
                          <a:extLst>
                            <a:ext uri="{FF2B5EF4-FFF2-40B4-BE49-F238E27FC236}">
                              <a16:creationId xmlns:a16="http://schemas.microsoft.com/office/drawing/2014/main" id="{0905448C-CF87-088C-853F-BB69AD354473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2820152" y="15570712"/>
                          <a:ext cx="2394349" cy="2464770"/>
                        </a:xfrm>
                        <a:prstGeom prst="flowChartDecision">
                          <a:avLst/>
                        </a:prstGeom>
                        <a:blipFill>
                          <a:blip r:embed="rId11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de-DE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52" name="Gerade Verbindung mit Pfeil 51">
                      <a:extLst>
                        <a:ext uri="{FF2B5EF4-FFF2-40B4-BE49-F238E27FC236}">
                          <a16:creationId xmlns:a16="http://schemas.microsoft.com/office/drawing/2014/main" id="{7108D119-CE35-29A6-92C1-900D085B6283}"/>
                        </a:ext>
                      </a:extLst>
                    </p:cNvPr>
                    <p:cNvCxnSpPr>
                      <a:cxnSpLocks/>
                      <a:stCxn id="51" idx="2"/>
                      <a:endCxn id="54" idx="0"/>
                    </p:cNvCxnSpPr>
                    <p:nvPr/>
                  </p:nvCxnSpPr>
                  <p:spPr>
                    <a:xfrm flipH="1">
                      <a:off x="12460962" y="18035482"/>
                      <a:ext cx="1556365" cy="1602539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" name="Gerade Verbindung mit Pfeil 52">
                      <a:extLst>
                        <a:ext uri="{FF2B5EF4-FFF2-40B4-BE49-F238E27FC236}">
                          <a16:creationId xmlns:a16="http://schemas.microsoft.com/office/drawing/2014/main" id="{83130FE1-FFC9-7831-E3B2-BE2D259301E7}"/>
                        </a:ext>
                      </a:extLst>
                    </p:cNvPr>
                    <p:cNvCxnSpPr>
                      <a:cxnSpLocks/>
                      <a:stCxn id="51" idx="2"/>
                      <a:endCxn id="55" idx="0"/>
                    </p:cNvCxnSpPr>
                    <p:nvPr/>
                  </p:nvCxnSpPr>
                  <p:spPr>
                    <a:xfrm>
                      <a:off x="14017327" y="18035482"/>
                      <a:ext cx="1602538" cy="1602539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4" name="Flussdiagramm: Prozess 53">
                      <a:extLst>
                        <a:ext uri="{FF2B5EF4-FFF2-40B4-BE49-F238E27FC236}">
                          <a16:creationId xmlns:a16="http://schemas.microsoft.com/office/drawing/2014/main" id="{3626F3CE-A9A2-5073-6917-2C22F816E6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82780" y="19638021"/>
                      <a:ext cx="1556365" cy="1602539"/>
                    </a:xfrm>
                    <a:prstGeom prst="flowChartProcess">
                      <a:avLst/>
                    </a:prstGeom>
                    <a:solidFill>
                      <a:srgbClr val="77B5B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6599" noProof="0" dirty="0"/>
                        <a:t>A</a:t>
                      </a:r>
                    </a:p>
                  </p:txBody>
                </p:sp>
                <p:sp>
                  <p:nvSpPr>
                    <p:cNvPr id="55" name="Flussdiagramm: Prozess 54">
                      <a:extLst>
                        <a:ext uri="{FF2B5EF4-FFF2-40B4-BE49-F238E27FC236}">
                          <a16:creationId xmlns:a16="http://schemas.microsoft.com/office/drawing/2014/main" id="{BE335687-FE06-5E95-D38F-F0EB8B0D9A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41683" y="19638021"/>
                      <a:ext cx="1556365" cy="1602539"/>
                    </a:xfrm>
                    <a:prstGeom prst="flowChartProcess">
                      <a:avLst/>
                    </a:prstGeom>
                    <a:solidFill>
                      <a:srgbClr val="77B5B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6599" noProof="0" dirty="0"/>
                        <a:t>B</a:t>
                      </a: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6" name="Flussdiagramm: Verzweigung 55">
                          <a:extLst>
                            <a:ext uri="{FF2B5EF4-FFF2-40B4-BE49-F238E27FC236}">
                              <a16:creationId xmlns:a16="http://schemas.microsoft.com/office/drawing/2014/main" id="{594B6C5F-36CB-B82D-B689-4A7D5A0FE79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398192" y="11495127"/>
                          <a:ext cx="2394349" cy="2464770"/>
                        </a:xfrm>
                        <a:prstGeom prst="flowChartDecision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de-DE" sz="2800" i="1" noProof="0">
                                    <a:latin typeface="Cambria Math" panose="02040503050406030204" pitchFamily="18" charset="0"/>
                                  </a:rPr>
                                  <m:t>1=1?</m:t>
                                </m:r>
                              </m:oMath>
                            </m:oMathPara>
                          </a14:m>
                          <a:endParaRPr lang="de-DE" sz="3200" noProof="0" dirty="0"/>
                        </a:p>
                      </p:txBody>
                    </p:sp>
                  </mc:Choice>
                  <mc:Fallback xmlns="">
                    <p:sp>
                      <p:nvSpPr>
                        <p:cNvPr id="56" name="Flussdiagramm: Verzweigung 55">
                          <a:extLst>
                            <a:ext uri="{FF2B5EF4-FFF2-40B4-BE49-F238E27FC236}">
                              <a16:creationId xmlns:a16="http://schemas.microsoft.com/office/drawing/2014/main" id="{7E8AA945-9454-E271-AAA8-BD9FCD30073F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4398192" y="11495127"/>
                          <a:ext cx="2394349" cy="2464770"/>
                        </a:xfrm>
                        <a:prstGeom prst="flowChartDecision">
                          <a:avLst/>
                        </a:prstGeom>
                        <a:blipFill>
                          <a:blip r:embed="rId12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de-DE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57" name="Gerade Verbindung mit Pfeil 56">
                      <a:extLst>
                        <a:ext uri="{FF2B5EF4-FFF2-40B4-BE49-F238E27FC236}">
                          <a16:creationId xmlns:a16="http://schemas.microsoft.com/office/drawing/2014/main" id="{7DA4E526-E4BD-AA57-AE08-62504F841F3B}"/>
                        </a:ext>
                      </a:extLst>
                    </p:cNvPr>
                    <p:cNvCxnSpPr>
                      <a:cxnSpLocks/>
                      <a:stCxn id="56" idx="2"/>
                      <a:endCxn id="51" idx="0"/>
                    </p:cNvCxnSpPr>
                    <p:nvPr/>
                  </p:nvCxnSpPr>
                  <p:spPr>
                    <a:xfrm flipH="1">
                      <a:off x="14017327" y="13959897"/>
                      <a:ext cx="1578039" cy="1610815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" name="Gerade Verbindung mit Pfeil 57">
                      <a:extLst>
                        <a:ext uri="{FF2B5EF4-FFF2-40B4-BE49-F238E27FC236}">
                          <a16:creationId xmlns:a16="http://schemas.microsoft.com/office/drawing/2014/main" id="{5941321B-888E-F69D-0D2D-30983AE201A9}"/>
                        </a:ext>
                      </a:extLst>
                    </p:cNvPr>
                    <p:cNvCxnSpPr>
                      <a:cxnSpLocks/>
                      <a:stCxn id="56" idx="2"/>
                      <a:endCxn id="59" idx="0"/>
                    </p:cNvCxnSpPr>
                    <p:nvPr/>
                  </p:nvCxnSpPr>
                  <p:spPr>
                    <a:xfrm>
                      <a:off x="15595367" y="13959897"/>
                      <a:ext cx="1556365" cy="1610815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9" name="Flussdiagramm: Prozess 58">
                      <a:extLst>
                        <a:ext uri="{FF2B5EF4-FFF2-40B4-BE49-F238E27FC236}">
                          <a16:creationId xmlns:a16="http://schemas.microsoft.com/office/drawing/2014/main" id="{A51EA3CF-FCCF-3ED7-E7A3-E3383FF61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373549" y="15570712"/>
                      <a:ext cx="1556365" cy="1602539"/>
                    </a:xfrm>
                    <a:prstGeom prst="flowChartProcess">
                      <a:avLst/>
                    </a:prstGeom>
                    <a:solidFill>
                      <a:srgbClr val="E7414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6599" noProof="0" dirty="0"/>
                        <a:t>C</a:t>
                      </a:r>
                    </a:p>
                  </p:txBody>
                </p:sp>
              </p:grpSp>
              <p:sp>
                <p:nvSpPr>
                  <p:cNvPr id="63" name="Textfeld 62">
                    <a:extLst>
                      <a:ext uri="{FF2B5EF4-FFF2-40B4-BE49-F238E27FC236}">
                        <a16:creationId xmlns:a16="http://schemas.microsoft.com/office/drawing/2014/main" id="{92BA0295-365E-76CE-D131-9E492E8EBCC2}"/>
                      </a:ext>
                    </a:extLst>
                  </p:cNvPr>
                  <p:cNvSpPr txBox="1"/>
                  <p:nvPr/>
                </p:nvSpPr>
                <p:spPr>
                  <a:xfrm>
                    <a:off x="13684456" y="14373882"/>
                    <a:ext cx="13123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sz="2800" b="1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100%</a:t>
                    </a:r>
                  </a:p>
                </p:txBody>
              </p:sp>
              <p:sp>
                <p:nvSpPr>
                  <p:cNvPr id="75" name="Textfeld 74">
                    <a:extLst>
                      <a:ext uri="{FF2B5EF4-FFF2-40B4-BE49-F238E27FC236}">
                        <a16:creationId xmlns:a16="http://schemas.microsoft.com/office/drawing/2014/main" id="{1B5B3DE3-92E3-BFAE-0902-B7BFC6B72245}"/>
                      </a:ext>
                    </a:extLst>
                  </p:cNvPr>
                  <p:cNvSpPr txBox="1"/>
                  <p:nvPr/>
                </p:nvSpPr>
                <p:spPr>
                  <a:xfrm>
                    <a:off x="16493355" y="14373882"/>
                    <a:ext cx="13123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sz="2800" b="1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0%</a:t>
                    </a:r>
                  </a:p>
                </p:txBody>
              </p:sp>
            </p:grpSp>
            <p:sp>
              <p:nvSpPr>
                <p:cNvPr id="82" name="Textfeld 81">
                  <a:extLst>
                    <a:ext uri="{FF2B5EF4-FFF2-40B4-BE49-F238E27FC236}">
                      <a16:creationId xmlns:a16="http://schemas.microsoft.com/office/drawing/2014/main" id="{58BE8BE3-91EF-402D-EB1B-DD8D282788E5}"/>
                    </a:ext>
                  </a:extLst>
                </p:cNvPr>
                <p:cNvSpPr txBox="1"/>
                <p:nvPr/>
              </p:nvSpPr>
              <p:spPr>
                <a:xfrm>
                  <a:off x="12374507" y="18486524"/>
                  <a:ext cx="86482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22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wahr</a:t>
                  </a:r>
                </a:p>
              </p:txBody>
            </p:sp>
            <p:sp>
              <p:nvSpPr>
                <p:cNvPr id="83" name="Textfeld 82">
                  <a:extLst>
                    <a:ext uri="{FF2B5EF4-FFF2-40B4-BE49-F238E27FC236}">
                      <a16:creationId xmlns:a16="http://schemas.microsoft.com/office/drawing/2014/main" id="{4A90F985-9948-FF6E-3F3B-C43FA47F2F52}"/>
                    </a:ext>
                  </a:extLst>
                </p:cNvPr>
                <p:cNvSpPr txBox="1"/>
                <p:nvPr/>
              </p:nvSpPr>
              <p:spPr>
                <a:xfrm>
                  <a:off x="14871610" y="18486524"/>
                  <a:ext cx="106843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22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falsch</a:t>
                  </a:r>
                </a:p>
              </p:txBody>
            </p:sp>
          </p:grpSp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66697333-9AE9-E800-4FA8-0010A0F9F0B0}"/>
                  </a:ext>
                </a:extLst>
              </p:cNvPr>
              <p:cNvSpPr txBox="1"/>
              <p:nvPr/>
            </p:nvSpPr>
            <p:spPr>
              <a:xfrm>
                <a:off x="11964571" y="10691577"/>
                <a:ext cx="6064417" cy="70788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DE" sz="4000" noProof="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Opakes</a:t>
                </a:r>
                <a:r>
                  <a:rPr lang="en-DE" sz="40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DE" sz="4000" noProof="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Prädikat</a:t>
                </a:r>
                <a:endParaRPr lang="de-DE" sz="40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8CCCA7C7-1098-D4DB-18AF-EFEDAEBB05E5}"/>
                </a:ext>
              </a:extLst>
            </p:cNvPr>
            <p:cNvGrpSpPr/>
            <p:nvPr/>
          </p:nvGrpSpPr>
          <p:grpSpPr>
            <a:xfrm>
              <a:off x="18956742" y="10691577"/>
              <a:ext cx="9883693" cy="10548983"/>
              <a:chOff x="18956742" y="10691577"/>
              <a:chExt cx="9883693" cy="10548983"/>
            </a:xfrm>
          </p:grpSpPr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1E7AB4C4-7176-7504-8E45-0EA125771C2E}"/>
                  </a:ext>
                </a:extLst>
              </p:cNvPr>
              <p:cNvGrpSpPr/>
              <p:nvPr/>
            </p:nvGrpSpPr>
            <p:grpSpPr>
              <a:xfrm>
                <a:off x="19641328" y="11336400"/>
                <a:ext cx="6247134" cy="9904160"/>
                <a:chOff x="19641328" y="11336400"/>
                <a:chExt cx="6247134" cy="9904160"/>
              </a:xfrm>
            </p:grpSpPr>
            <p:grpSp>
              <p:nvGrpSpPr>
                <p:cNvPr id="60" name="Gruppieren 59">
                  <a:extLst>
                    <a:ext uri="{FF2B5EF4-FFF2-40B4-BE49-F238E27FC236}">
                      <a16:creationId xmlns:a16="http://schemas.microsoft.com/office/drawing/2014/main" id="{AE0F6782-2710-51CA-091D-734FF39DDDB8}"/>
                    </a:ext>
                  </a:extLst>
                </p:cNvPr>
                <p:cNvGrpSpPr/>
                <p:nvPr/>
              </p:nvGrpSpPr>
              <p:grpSpPr>
                <a:xfrm>
                  <a:off x="19641328" y="11336400"/>
                  <a:ext cx="6247134" cy="9904160"/>
                  <a:chOff x="19641328" y="11336400"/>
                  <a:chExt cx="6247134" cy="9904160"/>
                </a:xfrm>
              </p:grpSpPr>
              <p:sp>
                <p:nvSpPr>
                  <p:cNvPr id="84" name="Textfeld 83">
                    <a:extLst>
                      <a:ext uri="{FF2B5EF4-FFF2-40B4-BE49-F238E27FC236}">
                        <a16:creationId xmlns:a16="http://schemas.microsoft.com/office/drawing/2014/main" id="{1CF99B22-0116-7ABD-B492-C18E6ECB09FF}"/>
                      </a:ext>
                    </a:extLst>
                  </p:cNvPr>
                  <p:cNvSpPr txBox="1"/>
                  <p:nvPr/>
                </p:nvSpPr>
                <p:spPr>
                  <a:xfrm>
                    <a:off x="20332865" y="18491848"/>
                    <a:ext cx="864828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sz="2200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wahr</a:t>
                    </a:r>
                  </a:p>
                </p:txBody>
              </p:sp>
              <p:sp>
                <p:nvSpPr>
                  <p:cNvPr id="85" name="Textfeld 84">
                    <a:extLst>
                      <a:ext uri="{FF2B5EF4-FFF2-40B4-BE49-F238E27FC236}">
                        <a16:creationId xmlns:a16="http://schemas.microsoft.com/office/drawing/2014/main" id="{3F31725B-DBF2-D326-16DA-7CA1149F45BD}"/>
                      </a:ext>
                    </a:extLst>
                  </p:cNvPr>
                  <p:cNvSpPr txBox="1"/>
                  <p:nvPr/>
                </p:nvSpPr>
                <p:spPr>
                  <a:xfrm>
                    <a:off x="22830158" y="18486524"/>
                    <a:ext cx="1068431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sz="2200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falsch</a:t>
                    </a:r>
                  </a:p>
                </p:txBody>
              </p:sp>
              <p:grpSp>
                <p:nvGrpSpPr>
                  <p:cNvPr id="49" name="Gruppieren 48">
                    <a:extLst>
                      <a:ext uri="{FF2B5EF4-FFF2-40B4-BE49-F238E27FC236}">
                        <a16:creationId xmlns:a16="http://schemas.microsoft.com/office/drawing/2014/main" id="{6D1F5658-0AD6-1BE0-EA39-5890E0411D3E}"/>
                      </a:ext>
                    </a:extLst>
                  </p:cNvPr>
                  <p:cNvGrpSpPr/>
                  <p:nvPr/>
                </p:nvGrpSpPr>
                <p:grpSpPr>
                  <a:xfrm>
                    <a:off x="19641328" y="11336400"/>
                    <a:ext cx="6247134" cy="9904160"/>
                    <a:chOff x="19641328" y="11336400"/>
                    <a:chExt cx="6247134" cy="9904160"/>
                  </a:xfrm>
                </p:grpSpPr>
                <p:sp>
                  <p:nvSpPr>
                    <p:cNvPr id="80" name="Textfeld 79">
                      <a:extLst>
                        <a:ext uri="{FF2B5EF4-FFF2-40B4-BE49-F238E27FC236}">
                          <a16:creationId xmlns:a16="http://schemas.microsoft.com/office/drawing/2014/main" id="{0E7128B8-3777-7054-835F-DBC62075CD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555775" y="14373882"/>
                      <a:ext cx="131232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2800" b="1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99.9%</a:t>
                      </a:r>
                    </a:p>
                  </p:txBody>
                </p:sp>
                <p:sp>
                  <p:nvSpPr>
                    <p:cNvPr id="81" name="Textfeld 80">
                      <a:extLst>
                        <a:ext uri="{FF2B5EF4-FFF2-40B4-BE49-F238E27FC236}">
                          <a16:creationId xmlns:a16="http://schemas.microsoft.com/office/drawing/2014/main" id="{1F3F353E-2F83-2021-34D3-38692C0B9A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454117" y="14373884"/>
                      <a:ext cx="131232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2800" b="1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0.1%</a:t>
                      </a:r>
                    </a:p>
                  </p:txBody>
                </p:sp>
                <p:grpSp>
                  <p:nvGrpSpPr>
                    <p:cNvPr id="47" name="Gruppieren 46">
                      <a:extLst>
                        <a:ext uri="{FF2B5EF4-FFF2-40B4-BE49-F238E27FC236}">
                          <a16:creationId xmlns:a16="http://schemas.microsoft.com/office/drawing/2014/main" id="{34B07E45-C260-7213-72D9-9C72002F281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641328" y="11336400"/>
                      <a:ext cx="6247134" cy="9904160"/>
                      <a:chOff x="19641328" y="11336400"/>
                      <a:chExt cx="6247134" cy="9904160"/>
                    </a:xfrm>
                  </p:grpSpPr>
                  <p:grpSp>
                    <p:nvGrpSpPr>
                      <p:cNvPr id="48" name="Gruppieren 47">
                        <a:extLst>
                          <a:ext uri="{FF2B5EF4-FFF2-40B4-BE49-F238E27FC236}">
                            <a16:creationId xmlns:a16="http://schemas.microsoft.com/office/drawing/2014/main" id="{50A65B8B-84D2-AC74-4D70-4DC361FBB3A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641328" y="11495127"/>
                        <a:ext cx="6247134" cy="9745433"/>
                        <a:chOff x="10885975" y="10931051"/>
                        <a:chExt cx="6669212" cy="10403865"/>
                      </a:xfrm>
                    </p:grpSpPr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22" name="Flussdiagramm: Verzweigung 21">
                              <a:extLst>
                                <a:ext uri="{FF2B5EF4-FFF2-40B4-BE49-F238E27FC236}">
                                  <a16:creationId xmlns:a16="http://schemas.microsoft.com/office/drawing/2014/main" id="{2613652B-9AE3-5A8B-D1E1-5F55E26A4AC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100193" y="15281994"/>
                              <a:ext cx="2556119" cy="2631298"/>
                            </a:xfrm>
                            <a:prstGeom prst="flowChartDecision">
                              <a:avLst/>
                            </a:prstGeom>
                            <a:solidFill>
                              <a:srgbClr val="77B5B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14:m>
                                <m:oMathPara xmlns:m="http://schemas.openxmlformats.org/officeDocument/2006/math">
                                  <m:oMathParaPr>
                                    <m:jc m:val="center"/>
                                  </m:oMathParaPr>
                                  <m:oMath xmlns:m="http://schemas.openxmlformats.org/officeDocument/2006/math">
                                    <m:r>
                                      <a:rPr lang="de-DE" sz="2800" i="1" noProof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de-DE" sz="2800" i="1" noProof="0">
                                        <a:latin typeface="Cambria Math" panose="02040503050406030204" pitchFamily="18" charset="0"/>
                                      </a:rPr>
                                      <m:t>=2?</m:t>
                                    </m:r>
                                  </m:oMath>
                                </m:oMathPara>
                              </a14:m>
                              <a:endParaRPr lang="de-DE" sz="3200" noProof="0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22" name="Flussdiagramm: Verzweigung 21">
                              <a:extLst>
                                <a:ext uri="{FF2B5EF4-FFF2-40B4-BE49-F238E27FC236}">
                                  <a16:creationId xmlns:a16="http://schemas.microsoft.com/office/drawing/2014/main" id="{C2534D18-4C68-9553-9B69-2FF2A2AB7174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12100193" y="15281994"/>
                              <a:ext cx="2556119" cy="2631298"/>
                            </a:xfrm>
                            <a:prstGeom prst="flowChartDecision">
                              <a:avLst/>
                            </a:prstGeom>
                            <a:blipFill>
                              <a:blip r:embed="rId13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de-DE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p:cxnSp>
                      <p:nvCxnSpPr>
                        <p:cNvPr id="24" name="Gerade Verbindung mit Pfeil 23">
                          <a:extLst>
                            <a:ext uri="{FF2B5EF4-FFF2-40B4-BE49-F238E27FC236}">
                              <a16:creationId xmlns:a16="http://schemas.microsoft.com/office/drawing/2014/main" id="{31D62D23-6BDD-351F-7FDA-46620556A6FE}"/>
                            </a:ext>
                          </a:extLst>
                        </p:cNvPr>
                        <p:cNvCxnSpPr>
                          <a:cxnSpLocks/>
                          <a:stCxn id="22" idx="2"/>
                          <a:endCxn id="27" idx="0"/>
                        </p:cNvCxnSpPr>
                        <p:nvPr/>
                      </p:nvCxnSpPr>
                      <p:spPr>
                        <a:xfrm flipH="1">
                          <a:off x="11716735" y="17913292"/>
                          <a:ext cx="1661518" cy="1710812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" name="Gerade Verbindung mit Pfeil 24">
                          <a:extLst>
                            <a:ext uri="{FF2B5EF4-FFF2-40B4-BE49-F238E27FC236}">
                              <a16:creationId xmlns:a16="http://schemas.microsoft.com/office/drawing/2014/main" id="{C84321EF-5474-7E57-6A8A-9F0D71E44E76}"/>
                            </a:ext>
                          </a:extLst>
                        </p:cNvPr>
                        <p:cNvCxnSpPr>
                          <a:cxnSpLocks/>
                          <a:stCxn id="22" idx="2"/>
                          <a:endCxn id="28" idx="0"/>
                        </p:cNvCxnSpPr>
                        <p:nvPr/>
                      </p:nvCxnSpPr>
                      <p:spPr>
                        <a:xfrm>
                          <a:off x="13378253" y="17913292"/>
                          <a:ext cx="1710811" cy="1710812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27" name="Flussdiagramm: Prozess 26">
                          <a:extLst>
                            <a:ext uri="{FF2B5EF4-FFF2-40B4-BE49-F238E27FC236}">
                              <a16:creationId xmlns:a16="http://schemas.microsoft.com/office/drawing/2014/main" id="{6933E024-A479-BC11-9670-AB000B979A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885975" y="19624104"/>
                          <a:ext cx="1661518" cy="1710812"/>
                        </a:xfrm>
                        <a:prstGeom prst="flowChartProcess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A</a:t>
                          </a:r>
                        </a:p>
                      </p:txBody>
                    </p:sp>
                    <p:sp>
                      <p:nvSpPr>
                        <p:cNvPr id="28" name="Flussdiagramm: Prozess 27">
                          <a:extLst>
                            <a:ext uri="{FF2B5EF4-FFF2-40B4-BE49-F238E27FC236}">
                              <a16:creationId xmlns:a16="http://schemas.microsoft.com/office/drawing/2014/main" id="{C5417BC0-24E7-179B-702D-CF97072B12A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258304" y="19624104"/>
                          <a:ext cx="1661518" cy="1710812"/>
                        </a:xfrm>
                        <a:prstGeom prst="flowChartProcess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B</a:t>
                          </a:r>
                        </a:p>
                      </p:txBody>
                    </p:sp>
                    <p:sp>
                      <p:nvSpPr>
                        <p:cNvPr id="5" name="Flussdiagramm: Verzweigung 4">
                          <a:extLst>
                            <a:ext uri="{FF2B5EF4-FFF2-40B4-BE49-F238E27FC236}">
                              <a16:creationId xmlns:a16="http://schemas.microsoft.com/office/drawing/2014/main" id="{1C8C3B4F-B3C8-F1FC-F19C-13C356594A9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784849" y="10931051"/>
                          <a:ext cx="2556119" cy="2631298"/>
                        </a:xfrm>
                        <a:prstGeom prst="flowChartDecision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DE" sz="2800" b="1" noProof="0" dirty="0"/>
                        </a:p>
                      </p:txBody>
                    </p:sp>
                    <p:cxnSp>
                      <p:nvCxnSpPr>
                        <p:cNvPr id="12" name="Gerade Verbindung mit Pfeil 11">
                          <a:extLst>
                            <a:ext uri="{FF2B5EF4-FFF2-40B4-BE49-F238E27FC236}">
                              <a16:creationId xmlns:a16="http://schemas.microsoft.com/office/drawing/2014/main" id="{9F73EE5F-4552-A8A3-E762-38AC0F58B5A9}"/>
                            </a:ext>
                          </a:extLst>
                        </p:cNvPr>
                        <p:cNvCxnSpPr>
                          <a:cxnSpLocks/>
                          <a:stCxn id="5" idx="2"/>
                          <a:endCxn id="22" idx="0"/>
                        </p:cNvCxnSpPr>
                        <p:nvPr/>
                      </p:nvCxnSpPr>
                      <p:spPr>
                        <a:xfrm flipH="1">
                          <a:off x="13378255" y="13562349"/>
                          <a:ext cx="1684657" cy="1719647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3" name="Gerade Verbindung mit Pfeil 12">
                          <a:extLst>
                            <a:ext uri="{FF2B5EF4-FFF2-40B4-BE49-F238E27FC236}">
                              <a16:creationId xmlns:a16="http://schemas.microsoft.com/office/drawing/2014/main" id="{38D7676C-59E0-3A45-7EFC-2FE039D57B43}"/>
                            </a:ext>
                          </a:extLst>
                        </p:cNvPr>
                        <p:cNvCxnSpPr>
                          <a:cxnSpLocks/>
                          <a:stCxn id="5" idx="2"/>
                          <a:endCxn id="46" idx="0"/>
                        </p:cNvCxnSpPr>
                        <p:nvPr/>
                      </p:nvCxnSpPr>
                      <p:spPr>
                        <a:xfrm>
                          <a:off x="15062907" y="13562349"/>
                          <a:ext cx="1661518" cy="1719647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46" name="Flussdiagramm: Prozess 45">
                          <a:extLst>
                            <a:ext uri="{FF2B5EF4-FFF2-40B4-BE49-F238E27FC236}">
                              <a16:creationId xmlns:a16="http://schemas.microsoft.com/office/drawing/2014/main" id="{D0C30405-C97E-2700-0106-42E934C09E8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893669" y="15281994"/>
                          <a:ext cx="1661518" cy="1710812"/>
                        </a:xfrm>
                        <a:prstGeom prst="flowChartProcess">
                          <a:avLst/>
                        </a:prstGeom>
                        <a:solidFill>
                          <a:srgbClr val="E74141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C</a:t>
                          </a:r>
                        </a:p>
                      </p:txBody>
                    </p:sp>
                  </p:grpSp>
                  <p:pic>
                    <p:nvPicPr>
                      <p:cNvPr id="9" name="Grafik 8" descr="Ein Bild, das Grafiken, Clipart, Grafikdesign, Kunst enthält.&#10;&#10;KI-generierte Inhalte können fehlerhaft sein.">
                        <a:extLst>
                          <a:ext uri="{FF2B5EF4-FFF2-40B4-BE49-F238E27FC236}">
                            <a16:creationId xmlns:a16="http://schemas.microsoft.com/office/drawing/2014/main" id="{947FC2EE-1976-4BBF-B8F0-710D3F87A80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21556800" y="11336400"/>
                        <a:ext cx="3592079" cy="2694059"/>
                      </a:xfrm>
                      <a:prstGeom prst="rect">
                        <a:avLst/>
                      </a:prstGeom>
                    </p:spPr>
                  </p:pic>
                </p:grpSp>
              </p:grpSp>
            </p:grpSp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1B624560-08FE-557E-1C66-629FF095C3A8}"/>
                    </a:ext>
                  </a:extLst>
                </p:cNvPr>
                <p:cNvSpPr txBox="1"/>
                <p:nvPr/>
              </p:nvSpPr>
              <p:spPr>
                <a:xfrm>
                  <a:off x="23898589" y="11743906"/>
                  <a:ext cx="1440417" cy="2215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13800" b="1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?</a:t>
                  </a:r>
                </a:p>
              </p:txBody>
            </p:sp>
          </p:grpSp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A8EE40AA-4494-D181-7460-9F5905935055}"/>
                  </a:ext>
                </a:extLst>
              </p:cNvPr>
              <p:cNvSpPr txBox="1"/>
              <p:nvPr/>
            </p:nvSpPr>
            <p:spPr>
              <a:xfrm>
                <a:off x="18956742" y="10691577"/>
                <a:ext cx="9883693" cy="70788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4000" noProof="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Probabilistisc</a:t>
                </a:r>
                <a:r>
                  <a:rPr lang="en-DE" sz="40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hes</a:t>
                </a:r>
                <a:r>
                  <a:rPr lang="en-DE" sz="4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DE" sz="40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opakes</a:t>
                </a:r>
                <a:r>
                  <a:rPr lang="en-DE" sz="4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DE" sz="40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Prädikat</a:t>
                </a:r>
                <a:endParaRPr lang="de-DE" sz="40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8D8D9ECF-2775-016A-5729-D1970618DA94}"/>
                </a:ext>
              </a:extLst>
            </p:cNvPr>
            <p:cNvGrpSpPr/>
            <p:nvPr/>
          </p:nvGrpSpPr>
          <p:grpSpPr>
            <a:xfrm>
              <a:off x="3592146" y="10691577"/>
              <a:ext cx="6064417" cy="10548983"/>
              <a:chOff x="3592146" y="10691577"/>
              <a:chExt cx="6064417" cy="10548983"/>
            </a:xfrm>
          </p:grpSpPr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91FD6650-04CB-01DA-7DBA-890CF94763C4}"/>
                  </a:ext>
                </a:extLst>
              </p:cNvPr>
              <p:cNvSpPr txBox="1"/>
              <p:nvPr/>
            </p:nvSpPr>
            <p:spPr>
              <a:xfrm>
                <a:off x="3592146" y="10691577"/>
                <a:ext cx="6064417" cy="70788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40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Einfaches Programm</a:t>
                </a:r>
              </a:p>
            </p:txBody>
          </p:sp>
          <p:grpSp>
            <p:nvGrpSpPr>
              <p:cNvPr id="42" name="Gruppieren 41">
                <a:extLst>
                  <a:ext uri="{FF2B5EF4-FFF2-40B4-BE49-F238E27FC236}">
                    <a16:creationId xmlns:a16="http://schemas.microsoft.com/office/drawing/2014/main" id="{6B7D28B1-21B7-0552-FA81-62C441E65D13}"/>
                  </a:ext>
                </a:extLst>
              </p:cNvPr>
              <p:cNvGrpSpPr/>
              <p:nvPr/>
            </p:nvGrpSpPr>
            <p:grpSpPr>
              <a:xfrm>
                <a:off x="4501003" y="15570712"/>
                <a:ext cx="4715268" cy="5669848"/>
                <a:chOff x="4368442" y="15463274"/>
                <a:chExt cx="4715268" cy="566984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Flussdiagramm: Verzweigung 31">
                      <a:extLst>
                        <a:ext uri="{FF2B5EF4-FFF2-40B4-BE49-F238E27FC236}">
                          <a16:creationId xmlns:a16="http://schemas.microsoft.com/office/drawing/2014/main" id="{D19FDE52-7C5B-443D-DDD3-5F4E941622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05814" y="15463274"/>
                      <a:ext cx="2394349" cy="2464770"/>
                    </a:xfrm>
                    <a:prstGeom prst="flowChartDecision">
                      <a:avLst/>
                    </a:prstGeom>
                    <a:solidFill>
                      <a:srgbClr val="77B5B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de-DE" sz="2800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de-DE" sz="2800" i="1" noProof="0">
                                <a:latin typeface="Cambria Math" panose="02040503050406030204" pitchFamily="18" charset="0"/>
                              </a:rPr>
                              <m:t>=2?</m:t>
                            </m:r>
                          </m:oMath>
                        </m:oMathPara>
                      </a14:m>
                      <a:endParaRPr lang="de-DE" sz="3200" noProof="0" dirty="0"/>
                    </a:p>
                  </p:txBody>
                </p:sp>
              </mc:Choice>
              <mc:Fallback xmlns="">
                <p:sp>
                  <p:nvSpPr>
                    <p:cNvPr id="32" name="Flussdiagramm: Verzweigung 31">
                      <a:extLst>
                        <a:ext uri="{FF2B5EF4-FFF2-40B4-BE49-F238E27FC236}">
                          <a16:creationId xmlns:a16="http://schemas.microsoft.com/office/drawing/2014/main" id="{C26C9939-75AF-58B9-467C-E24C60F8083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05814" y="15463274"/>
                      <a:ext cx="2394349" cy="2464770"/>
                    </a:xfrm>
                    <a:prstGeom prst="flowChartDecision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3" name="Gerade Verbindung mit Pfeil 32">
                  <a:extLst>
                    <a:ext uri="{FF2B5EF4-FFF2-40B4-BE49-F238E27FC236}">
                      <a16:creationId xmlns:a16="http://schemas.microsoft.com/office/drawing/2014/main" id="{DA5FBF10-25A4-BA8F-8B53-FBF0E2E59859}"/>
                    </a:ext>
                  </a:extLst>
                </p:cNvPr>
                <p:cNvCxnSpPr>
                  <a:cxnSpLocks/>
                  <a:stCxn id="32" idx="2"/>
                  <a:endCxn id="35" idx="0"/>
                </p:cNvCxnSpPr>
                <p:nvPr/>
              </p:nvCxnSpPr>
              <p:spPr>
                <a:xfrm flipH="1">
                  <a:off x="5146624" y="17928044"/>
                  <a:ext cx="1556365" cy="1602539"/>
                </a:xfrm>
                <a:prstGeom prst="straightConnector1">
                  <a:avLst/>
                </a:prstGeom>
                <a:ln w="444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Gerade Verbindung mit Pfeil 33">
                  <a:extLst>
                    <a:ext uri="{FF2B5EF4-FFF2-40B4-BE49-F238E27FC236}">
                      <a16:creationId xmlns:a16="http://schemas.microsoft.com/office/drawing/2014/main" id="{F9225269-8255-CAF2-0239-0475644D3EE3}"/>
                    </a:ext>
                  </a:extLst>
                </p:cNvPr>
                <p:cNvCxnSpPr>
                  <a:cxnSpLocks/>
                  <a:stCxn id="32" idx="2"/>
                  <a:endCxn id="37" idx="0"/>
                </p:cNvCxnSpPr>
                <p:nvPr/>
              </p:nvCxnSpPr>
              <p:spPr>
                <a:xfrm>
                  <a:off x="6702989" y="17928044"/>
                  <a:ext cx="1602538" cy="1602539"/>
                </a:xfrm>
                <a:prstGeom prst="straightConnector1">
                  <a:avLst/>
                </a:prstGeom>
                <a:ln w="444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Flussdiagramm: Prozess 34">
                  <a:extLst>
                    <a:ext uri="{FF2B5EF4-FFF2-40B4-BE49-F238E27FC236}">
                      <a16:creationId xmlns:a16="http://schemas.microsoft.com/office/drawing/2014/main" id="{900CC915-9609-9F43-C62B-48707525BDDD}"/>
                    </a:ext>
                  </a:extLst>
                </p:cNvPr>
                <p:cNvSpPr/>
                <p:nvPr/>
              </p:nvSpPr>
              <p:spPr>
                <a:xfrm>
                  <a:off x="4368442" y="19530583"/>
                  <a:ext cx="1556365" cy="1602539"/>
                </a:xfrm>
                <a:prstGeom prst="flowChartProcess">
                  <a:avLst/>
                </a:prstGeom>
                <a:solidFill>
                  <a:srgbClr val="77B5B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16599" noProof="0" dirty="0"/>
                    <a:t>A</a:t>
                  </a:r>
                </a:p>
              </p:txBody>
            </p:sp>
            <p:sp>
              <p:nvSpPr>
                <p:cNvPr id="37" name="Flussdiagramm: Prozess 36">
                  <a:extLst>
                    <a:ext uri="{FF2B5EF4-FFF2-40B4-BE49-F238E27FC236}">
                      <a16:creationId xmlns:a16="http://schemas.microsoft.com/office/drawing/2014/main" id="{0CF66219-7922-BB81-9A78-4C0542AD27BA}"/>
                    </a:ext>
                  </a:extLst>
                </p:cNvPr>
                <p:cNvSpPr/>
                <p:nvPr/>
              </p:nvSpPr>
              <p:spPr>
                <a:xfrm>
                  <a:off x="7527345" y="19530583"/>
                  <a:ext cx="1556365" cy="1602539"/>
                </a:xfrm>
                <a:prstGeom prst="flowChartProcess">
                  <a:avLst/>
                </a:prstGeom>
                <a:solidFill>
                  <a:srgbClr val="77B5B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16599" noProof="0" dirty="0"/>
                    <a:t>B</a:t>
                  </a:r>
                </a:p>
              </p:txBody>
            </p:sp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45B09A40-58DE-8852-8AD9-664C8D8573B6}"/>
                    </a:ext>
                  </a:extLst>
                </p:cNvPr>
                <p:cNvSpPr txBox="1"/>
                <p:nvPr/>
              </p:nvSpPr>
              <p:spPr>
                <a:xfrm>
                  <a:off x="5060169" y="18379086"/>
                  <a:ext cx="86482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22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wahr</a:t>
                  </a:r>
                </a:p>
              </p:txBody>
            </p:sp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88C75A4D-997C-5DA2-8108-5A24AE55B1B9}"/>
                    </a:ext>
                  </a:extLst>
                </p:cNvPr>
                <p:cNvSpPr txBox="1"/>
                <p:nvPr/>
              </p:nvSpPr>
              <p:spPr>
                <a:xfrm>
                  <a:off x="7558540" y="18379086"/>
                  <a:ext cx="106843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22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falsch</a:t>
                  </a:r>
                </a:p>
              </p:txBody>
            </p:sp>
          </p:grpSp>
        </p:grpSp>
      </p:grpSp>
      <p:cxnSp>
        <p:nvCxnSpPr>
          <p:cNvPr id="61" name="Verbinder: gekrümmt 60">
            <a:extLst>
              <a:ext uri="{FF2B5EF4-FFF2-40B4-BE49-F238E27FC236}">
                <a16:creationId xmlns:a16="http://schemas.microsoft.com/office/drawing/2014/main" id="{4FB8CF51-6D8C-2895-6594-F9F564AF063F}"/>
              </a:ext>
            </a:extLst>
          </p:cNvPr>
          <p:cNvCxnSpPr>
            <a:cxnSpLocks/>
          </p:cNvCxnSpPr>
          <p:nvPr/>
        </p:nvCxnSpPr>
        <p:spPr>
          <a:xfrm rot="10800000">
            <a:off x="23977484" y="13125450"/>
            <a:ext cx="1054216" cy="6286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feld 67">
            <a:extLst>
              <a:ext uri="{FF2B5EF4-FFF2-40B4-BE49-F238E27FC236}">
                <a16:creationId xmlns:a16="http://schemas.microsoft.com/office/drawing/2014/main" id="{0FEEDB5D-7AC3-544A-779A-0C2C2F10FDF8}"/>
              </a:ext>
            </a:extLst>
          </p:cNvPr>
          <p:cNvSpPr txBox="1"/>
          <p:nvPr/>
        </p:nvSpPr>
        <p:spPr>
          <a:xfrm>
            <a:off x="25239127" y="13354519"/>
            <a:ext cx="38964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unwahrscheinliches</a:t>
            </a:r>
            <a:r>
              <a:rPr lang="en-DE" sz="2800" dirty="0"/>
              <a:t> </a:t>
            </a:r>
            <a:r>
              <a:rPr lang="en-DE" sz="2800" dirty="0" err="1"/>
              <a:t>Ereignis</a:t>
            </a:r>
            <a:endParaRPr lang="de-DE" sz="2800" dirty="0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E8750B4E-8F8E-EDD3-C1FF-3CBC84D33D25}"/>
              </a:ext>
            </a:extLst>
          </p:cNvPr>
          <p:cNvSpPr txBox="1"/>
          <p:nvPr/>
        </p:nvSpPr>
        <p:spPr>
          <a:xfrm>
            <a:off x="-1" y="42329726"/>
            <a:ext cx="3027521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DE" sz="2400" dirty="0"/>
              <a:t>[1] </a:t>
            </a:r>
            <a:r>
              <a:rPr lang="en-US" sz="2400" dirty="0" err="1"/>
              <a:t>Revenera</a:t>
            </a:r>
            <a:r>
              <a:rPr lang="en-US" sz="2400" dirty="0"/>
              <a:t>. </a:t>
            </a:r>
            <a:r>
              <a:rPr lang="en-US" sz="2400" dirty="0" err="1"/>
              <a:t>Revenera</a:t>
            </a:r>
            <a:r>
              <a:rPr lang="en-US" sz="2400" dirty="0"/>
              <a:t> Monetization Monitor: Software Piracy and Compliance Outlook 2026. 2026. url: https://info.revenera.com/SWM-RPT-monetization-monitor-models-and-strategies (</a:t>
            </a:r>
            <a:r>
              <a:rPr lang="en-US" sz="2400" dirty="0" err="1"/>
              <a:t>besucht</a:t>
            </a:r>
            <a:r>
              <a:rPr lang="en-US" sz="2400" dirty="0"/>
              <a:t> am 20.0</a:t>
            </a:r>
            <a:r>
              <a:rPr lang="en-DE" sz="2400" dirty="0"/>
              <a:t>1</a:t>
            </a:r>
            <a:r>
              <a:rPr lang="en-US" sz="2400" dirty="0"/>
              <a:t>.2026).</a:t>
            </a:r>
            <a:r>
              <a:rPr lang="en-DE" sz="2400" dirty="0"/>
              <a:t> 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858281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294E8-5179-6493-62D8-42759DE45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5">
            <a:extLst>
              <a:ext uri="{FF2B5EF4-FFF2-40B4-BE49-F238E27FC236}">
                <a16:creationId xmlns:a16="http://schemas.microsoft.com/office/drawing/2014/main" id="{F4EE1B0C-ACE5-999A-F220-52202D45AD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73373" y="5601156"/>
            <a:ext cx="27101911" cy="363986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200" noProof="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2FE0D0C-F530-D635-CE97-0F18A38F9FC4}"/>
              </a:ext>
            </a:extLst>
          </p:cNvPr>
          <p:cNvSpPr txBox="1"/>
          <p:nvPr/>
        </p:nvSpPr>
        <p:spPr>
          <a:xfrm>
            <a:off x="2502876" y="8906955"/>
            <a:ext cx="12635695" cy="2170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1. </a:t>
            </a:r>
            <a:r>
              <a:rPr lang="en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Parameter </a:t>
            </a:r>
            <a:r>
              <a:rPr lang="en-DE" sz="4800" noProof="0" dirty="0" err="1">
                <a:latin typeface="Segoe UI" panose="020B0502040204020203" pitchFamily="34" charset="0"/>
                <a:cs typeface="Segoe UI" panose="020B0502040204020203" pitchFamily="34" charset="0"/>
              </a:rPr>
              <a:t>wählen</a:t>
            </a:r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, dessen Werte sich nicht statisch bestimmen lassen.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0F727B9-5A1F-B805-05C1-AEB729D5EA9E}"/>
              </a:ext>
            </a:extLst>
          </p:cNvPr>
          <p:cNvSpPr txBox="1"/>
          <p:nvPr/>
        </p:nvSpPr>
        <p:spPr>
          <a:xfrm>
            <a:off x="2502878" y="18050497"/>
            <a:ext cx="12635695" cy="106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2. </a:t>
            </a:r>
            <a:r>
              <a:rPr lang="en-DE" sz="4800" dirty="0">
                <a:latin typeface="Segoe UI" panose="020B0502040204020203" pitchFamily="34" charset="0"/>
                <a:cs typeface="Segoe UI" panose="020B0502040204020203" pitchFamily="34" charset="0"/>
              </a:rPr>
              <a:t>K</a:t>
            </a:r>
            <a:r>
              <a:rPr lang="de-DE" sz="4800" dirty="0" err="1">
                <a:latin typeface="Segoe UI" panose="020B0502040204020203" pitchFamily="34" charset="0"/>
                <a:cs typeface="Segoe UI" panose="020B0502040204020203" pitchFamily="34" charset="0"/>
              </a:rPr>
              <a:t>umulative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 Verteilungsfunktion </a:t>
            </a:r>
            <a:r>
              <a:rPr lang="en-DE" sz="4800" dirty="0" err="1">
                <a:latin typeface="Segoe UI" panose="020B0502040204020203" pitchFamily="34" charset="0"/>
                <a:cs typeface="Segoe UI" panose="020B0502040204020203" pitchFamily="34" charset="0"/>
              </a:rPr>
              <a:t>generieren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DE" sz="4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EE31AE0-C03C-65C2-EED5-AEA35B133799}"/>
              </a:ext>
            </a:extLst>
          </p:cNvPr>
          <p:cNvSpPr txBox="1"/>
          <p:nvPr/>
        </p:nvSpPr>
        <p:spPr>
          <a:xfrm>
            <a:off x="2503551" y="27194039"/>
            <a:ext cx="12634347" cy="3278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3. Über die Inversionsmethode </a:t>
            </a:r>
            <a:r>
              <a:rPr lang="en-DE" sz="4800" dirty="0" err="1">
                <a:latin typeface="Segoe UI" panose="020B0502040204020203" pitchFamily="34" charset="0"/>
                <a:cs typeface="Segoe UI" panose="020B0502040204020203" pitchFamily="34" charset="0"/>
              </a:rPr>
              <a:t>wird</a:t>
            </a:r>
            <a:r>
              <a:rPr lang="en-DE" sz="4800" dirty="0">
                <a:latin typeface="Segoe UI" panose="020B0502040204020203" pitchFamily="34" charset="0"/>
                <a:cs typeface="Segoe UI" panose="020B0502040204020203" pitchFamily="34" charset="0"/>
              </a:rPr>
              <a:t> der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 Parameter gemäß der</a:t>
            </a:r>
            <a:r>
              <a:rPr lang="en-DE" sz="4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zugeordneten Wahrscheinlichkeitsdichtefunktion</a:t>
            </a:r>
            <a:r>
              <a:rPr lang="en-DE" sz="4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verteilt.</a:t>
            </a:r>
            <a:endParaRPr lang="en-DE" sz="4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F06C415-6384-43A3-48C0-D2CE0BB134CF}"/>
              </a:ext>
            </a:extLst>
          </p:cNvPr>
          <p:cNvSpPr txBox="1"/>
          <p:nvPr/>
        </p:nvSpPr>
        <p:spPr>
          <a:xfrm>
            <a:off x="2501911" y="33880299"/>
            <a:ext cx="248857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4. Da wir Kontrolle über die Verteilung der Zukunftsvariable haben</a:t>
            </a:r>
            <a:r>
              <a:rPr lang="en-DE" sz="48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 können wir </a:t>
            </a:r>
            <a:r>
              <a:rPr lang="en-DE" sz="4800" dirty="0" err="1">
                <a:latin typeface="Segoe UI" panose="020B0502040204020203" pitchFamily="34" charset="0"/>
                <a:cs typeface="Segoe UI" panose="020B0502040204020203" pitchFamily="34" charset="0"/>
              </a:rPr>
              <a:t>festlegen</a:t>
            </a:r>
            <a:r>
              <a:rPr lang="de-DE" sz="4800" dirty="0">
                <a:latin typeface="Segoe UI" panose="020B0502040204020203" pitchFamily="34" charset="0"/>
                <a:cs typeface="Segoe UI" panose="020B0502040204020203" pitchFamily="34" charset="0"/>
              </a:rPr>
              <a:t>, dass bestimmte Intervalle/Werte besonders wahrscheinlich sind.</a:t>
            </a:r>
          </a:p>
        </p:txBody>
      </p:sp>
      <p:pic>
        <p:nvPicPr>
          <p:cNvPr id="28" name="Grafik 27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5E7CDE68-3482-B800-0979-65C66CB53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463" y="25333847"/>
            <a:ext cx="7194121" cy="6999102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0" name="Grafik 29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53A7CB72-0478-DFA1-A273-0B189FC98F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5820" y="16053730"/>
            <a:ext cx="7195764" cy="7000701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3271C6B2-D673-3DEA-20F7-F88D9F37CC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824887" y="6210317"/>
            <a:ext cx="5875452" cy="7563998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7BE9613-0483-BCDB-83D7-5FF2F44EC630}"/>
              </a:ext>
            </a:extLst>
          </p:cNvPr>
          <p:cNvGrpSpPr/>
          <p:nvPr/>
        </p:nvGrpSpPr>
        <p:grpSpPr>
          <a:xfrm>
            <a:off x="0" y="-64708"/>
            <a:ext cx="30275212" cy="3409387"/>
            <a:chOff x="0" y="-64708"/>
            <a:chExt cx="30275212" cy="3409387"/>
          </a:xfrm>
        </p:grpSpPr>
        <p:sp>
          <p:nvSpPr>
            <p:cNvPr id="22" name="Rectangle 9">
              <a:extLst>
                <a:ext uri="{FF2B5EF4-FFF2-40B4-BE49-F238E27FC236}">
                  <a16:creationId xmlns:a16="http://schemas.microsoft.com/office/drawing/2014/main" id="{78F2813E-5402-3E04-F39E-B4C2A1C1A95A}"/>
                </a:ext>
              </a:extLst>
            </p:cNvPr>
            <p:cNvSpPr>
              <a:spLocks/>
            </p:cNvSpPr>
            <p:nvPr/>
          </p:nvSpPr>
          <p:spPr>
            <a:xfrm>
              <a:off x="0" y="-64708"/>
              <a:ext cx="30275212" cy="3409387"/>
            </a:xfrm>
            <a:prstGeom prst="rect">
              <a:avLst/>
            </a:prstGeom>
            <a:solidFill>
              <a:srgbClr val="E7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03" noProof="0" dirty="0"/>
            </a:p>
          </p:txBody>
        </p:sp>
        <p:sp>
          <p:nvSpPr>
            <p:cNvPr id="23" name="Rectangle 1">
              <a:extLst>
                <a:ext uri="{FF2B5EF4-FFF2-40B4-BE49-F238E27FC236}">
                  <a16:creationId xmlns:a16="http://schemas.microsoft.com/office/drawing/2014/main" id="{13D2C225-DD12-8D48-BC68-69D4FCC930A1}"/>
                </a:ext>
              </a:extLst>
            </p:cNvPr>
            <p:cNvSpPr>
              <a:spLocks/>
            </p:cNvSpPr>
            <p:nvPr/>
          </p:nvSpPr>
          <p:spPr>
            <a:xfrm>
              <a:off x="944436" y="364876"/>
              <a:ext cx="28559786" cy="22411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de-DE" sz="11999" b="1" noProof="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Wie sicher ist Ihre Software wirklich?</a:t>
              </a:r>
              <a:endParaRPr lang="de-DE" sz="11999" noProof="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371E1D1E-91A8-1A8E-7200-F9BE214E55D5}"/>
              </a:ext>
            </a:extLst>
          </p:cNvPr>
          <p:cNvSpPr txBox="1"/>
          <p:nvPr/>
        </p:nvSpPr>
        <p:spPr>
          <a:xfrm>
            <a:off x="-7524415" y="6135298"/>
            <a:ext cx="271019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7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Funktionsweise</a:t>
            </a:r>
            <a:endParaRPr lang="de-DE" sz="7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A610C86B-7CB6-7D8D-802C-57093A03D9ED}"/>
              </a:ext>
            </a:extLst>
          </p:cNvPr>
          <p:cNvSpPr txBox="1"/>
          <p:nvPr/>
        </p:nvSpPr>
        <p:spPr>
          <a:xfrm>
            <a:off x="1770200" y="4033334"/>
            <a:ext cx="25287464" cy="105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243" i="1" noProof="0" dirty="0">
                <a:solidFill>
                  <a:srgbClr val="26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POP: Probabilistische opake Prädikate gegen symbolische Ausführung</a:t>
            </a:r>
          </a:p>
        </p:txBody>
      </p:sp>
    </p:spTree>
    <p:extLst>
      <p:ext uri="{BB962C8B-B14F-4D97-AF65-F5344CB8AC3E}">
        <p14:creationId xmlns:p14="http://schemas.microsoft.com/office/powerpoint/2010/main" val="25434789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Jufo vert</Template>
  <TotalTime>0</TotalTime>
  <Words>290</Words>
  <Application>Microsoft Office PowerPoint</Application>
  <PresentationFormat>Benutzerdefiniert</PresentationFormat>
  <Paragraphs>44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Segoe UI</vt:lpstr>
      <vt:lpstr>Segoe UI Black</vt:lpstr>
      <vt:lpstr>Segoe UI Light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Moritz Baumgartner</dc:creator>
  <cp:lastModifiedBy>Paul Moritz Baumgartner</cp:lastModifiedBy>
  <cp:revision>6</cp:revision>
  <dcterms:created xsi:type="dcterms:W3CDTF">2026-02-20T13:03:44Z</dcterms:created>
  <dcterms:modified xsi:type="dcterms:W3CDTF">2026-02-20T13:39:34Z</dcterms:modified>
</cp:coreProperties>
</file>