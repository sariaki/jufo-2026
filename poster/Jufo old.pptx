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2781D39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F6C34F-2DC2-B054-F9B5-BE8EDC4A1B09}" name="Paul Moritz Baumgartner" initials="PB" userId="S::Paul.2299@mariano-josephinum.net::fa8d80c5-339a-482e-ba3c-1cec7fa698f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4141"/>
    <a:srgbClr val="BE1818"/>
    <a:srgbClr val="262626"/>
    <a:srgbClr val="662D91"/>
    <a:srgbClr val="F68B1F"/>
    <a:srgbClr val="EFEFEF"/>
    <a:srgbClr val="4A148C"/>
    <a:srgbClr val="263238"/>
    <a:srgbClr val="006A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6" autoAdjust="0"/>
    <p:restoredTop sz="94668" autoAdjust="0"/>
  </p:normalViewPr>
  <p:slideViewPr>
    <p:cSldViewPr snapToGrid="0">
      <p:cViewPr>
        <p:scale>
          <a:sx n="33" d="100"/>
          <a:sy n="33" d="100"/>
        </p:scale>
        <p:origin x="792" y="-18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omments/modernComment_100_2781D39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719EE71-AA4E-4537-B883-F8165878D041}" authorId="{9AF6C34F-2DC2-B054-F9B5-BE8EDC4A1B09}" created="2026-01-22T19:00:15.9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62819743" sldId="256"/>
      <ac:spMk id="40" creationId="{A57E8BA5-BF3E-643B-A93A-97B3BACB816E}"/>
    </ac:deMkLst>
    <p188:txBody>
      <a:bodyPr/>
      <a:lstStyle/>
      <a:p>
        <a:r>
          <a:rPr lang="de-DE"/>
          <a:t>TODO: Andere Einfügen!!!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2" y="7005156"/>
            <a:ext cx="25733931" cy="14902051"/>
          </a:xfrm>
        </p:spPr>
        <p:txBody>
          <a:bodyPr anchor="b"/>
          <a:lstStyle>
            <a:lvl1pPr algn="ctr">
              <a:defRPr sz="19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8"/>
            <a:ext cx="22706410" cy="10334331"/>
          </a:xfrm>
        </p:spPr>
        <p:txBody>
          <a:bodyPr/>
          <a:lstStyle>
            <a:lvl1pPr marL="0" indent="0" algn="ctr">
              <a:buNone/>
              <a:defRPr sz="7945"/>
            </a:lvl1pPr>
            <a:lvl2pPr marL="1513636" indent="0" algn="ctr">
              <a:buNone/>
              <a:defRPr sz="6621"/>
            </a:lvl2pPr>
            <a:lvl3pPr marL="3027273" indent="0" algn="ctr">
              <a:buNone/>
              <a:defRPr sz="5959"/>
            </a:lvl3pPr>
            <a:lvl4pPr marL="4540910" indent="0" algn="ctr">
              <a:buNone/>
              <a:defRPr sz="5296"/>
            </a:lvl4pPr>
            <a:lvl5pPr marL="6054547" indent="0" algn="ctr">
              <a:buNone/>
              <a:defRPr sz="5296"/>
            </a:lvl5pPr>
            <a:lvl6pPr marL="7568183" indent="0" algn="ctr">
              <a:buNone/>
              <a:defRPr sz="5296"/>
            </a:lvl6pPr>
            <a:lvl7pPr marL="9081820" indent="0" algn="ctr">
              <a:buNone/>
              <a:defRPr sz="5296"/>
            </a:lvl7pPr>
            <a:lvl8pPr marL="10595456" indent="0" algn="ctr">
              <a:buNone/>
              <a:defRPr sz="5296"/>
            </a:lvl8pPr>
            <a:lvl9pPr marL="12109093" indent="0" algn="ctr">
              <a:buNone/>
              <a:defRPr sz="5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7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00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30"/>
            <a:ext cx="26112371" cy="17805173"/>
          </a:xfrm>
        </p:spPr>
        <p:txBody>
          <a:bodyPr anchor="b"/>
          <a:lstStyle>
            <a:lvl1pPr>
              <a:defRPr sz="19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7"/>
            <a:ext cx="26112371" cy="9363320"/>
          </a:xfrm>
        </p:spPr>
        <p:txBody>
          <a:bodyPr/>
          <a:lstStyle>
            <a:lvl1pPr marL="0" indent="0">
              <a:buNone/>
              <a:defRPr sz="7945">
                <a:solidFill>
                  <a:schemeClr val="tx1"/>
                </a:solidFill>
              </a:defRPr>
            </a:lvl1pPr>
            <a:lvl2pPr marL="1513636" indent="0">
              <a:buNone/>
              <a:defRPr sz="6621">
                <a:solidFill>
                  <a:schemeClr val="tx1">
                    <a:tint val="75000"/>
                  </a:schemeClr>
                </a:solidFill>
              </a:defRPr>
            </a:lvl2pPr>
            <a:lvl3pPr marL="3027273" indent="0">
              <a:buNone/>
              <a:defRPr sz="5959">
                <a:solidFill>
                  <a:schemeClr val="tx1">
                    <a:tint val="75000"/>
                  </a:schemeClr>
                </a:solidFill>
              </a:defRPr>
            </a:lvl3pPr>
            <a:lvl4pPr marL="4540910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4pPr>
            <a:lvl5pPr marL="6054547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5pPr>
            <a:lvl6pPr marL="756818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6pPr>
            <a:lvl7pPr marL="9081820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7pPr>
            <a:lvl8pPr marL="10595456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8pPr>
            <a:lvl9pPr marL="1210909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68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6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5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1"/>
            <a:ext cx="12807832" cy="5142393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636" indent="0">
              <a:buNone/>
              <a:defRPr sz="6621" b="1"/>
            </a:lvl2pPr>
            <a:lvl3pPr marL="3027273" indent="0">
              <a:buNone/>
              <a:defRPr sz="5959" b="1"/>
            </a:lvl3pPr>
            <a:lvl4pPr marL="4540910" indent="0">
              <a:buNone/>
              <a:defRPr sz="5296" b="1"/>
            </a:lvl4pPr>
            <a:lvl5pPr marL="6054547" indent="0">
              <a:buNone/>
              <a:defRPr sz="5296" b="1"/>
            </a:lvl5pPr>
            <a:lvl6pPr marL="7568183" indent="0">
              <a:buNone/>
              <a:defRPr sz="5296" b="1"/>
            </a:lvl6pPr>
            <a:lvl7pPr marL="9081820" indent="0">
              <a:buNone/>
              <a:defRPr sz="5296" b="1"/>
            </a:lvl7pPr>
            <a:lvl8pPr marL="10595456" indent="0">
              <a:buNone/>
              <a:defRPr sz="5296" b="1"/>
            </a:lvl8pPr>
            <a:lvl9pPr marL="12109093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1"/>
            <a:ext cx="12870909" cy="5142393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636" indent="0">
              <a:buNone/>
              <a:defRPr sz="6621" b="1"/>
            </a:lvl2pPr>
            <a:lvl3pPr marL="3027273" indent="0">
              <a:buNone/>
              <a:defRPr sz="5959" b="1"/>
            </a:lvl3pPr>
            <a:lvl4pPr marL="4540910" indent="0">
              <a:buNone/>
              <a:defRPr sz="5296" b="1"/>
            </a:lvl4pPr>
            <a:lvl5pPr marL="6054547" indent="0">
              <a:buNone/>
              <a:defRPr sz="5296" b="1"/>
            </a:lvl5pPr>
            <a:lvl6pPr marL="7568183" indent="0">
              <a:buNone/>
              <a:defRPr sz="5296" b="1"/>
            </a:lvl6pPr>
            <a:lvl7pPr marL="9081820" indent="0">
              <a:buNone/>
              <a:defRPr sz="5296" b="1"/>
            </a:lvl7pPr>
            <a:lvl8pPr marL="10595456" indent="0">
              <a:buNone/>
              <a:defRPr sz="5296" b="1"/>
            </a:lvl8pPr>
            <a:lvl9pPr marL="12109093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8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2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16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10" y="6162959"/>
            <a:ext cx="15326827" cy="30418415"/>
          </a:xfrm>
        </p:spPr>
        <p:txBody>
          <a:bodyPr/>
          <a:lstStyle>
            <a:lvl1pPr>
              <a:defRPr sz="10594"/>
            </a:lvl1pPr>
            <a:lvl2pPr>
              <a:defRPr sz="9270"/>
            </a:lvl2pPr>
            <a:lvl3pPr>
              <a:defRPr sz="7945"/>
            </a:lvl3pPr>
            <a:lvl4pPr>
              <a:defRPr sz="6621"/>
            </a:lvl4pPr>
            <a:lvl5pPr>
              <a:defRPr sz="6621"/>
            </a:lvl5pPr>
            <a:lvl6pPr>
              <a:defRPr sz="6621"/>
            </a:lvl6pPr>
            <a:lvl7pPr>
              <a:defRPr sz="6621"/>
            </a:lvl7pPr>
            <a:lvl8pPr>
              <a:defRPr sz="6621"/>
            </a:lvl8pPr>
            <a:lvl9pPr>
              <a:defRPr sz="66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6"/>
            </a:lvl1pPr>
            <a:lvl2pPr marL="1513636" indent="0">
              <a:buNone/>
              <a:defRPr sz="4635"/>
            </a:lvl2pPr>
            <a:lvl3pPr marL="3027273" indent="0">
              <a:buNone/>
              <a:defRPr sz="3973"/>
            </a:lvl3pPr>
            <a:lvl4pPr marL="4540910" indent="0">
              <a:buNone/>
              <a:defRPr sz="3311"/>
            </a:lvl4pPr>
            <a:lvl5pPr marL="6054547" indent="0">
              <a:buNone/>
              <a:defRPr sz="3311"/>
            </a:lvl5pPr>
            <a:lvl6pPr marL="7568183" indent="0">
              <a:buNone/>
              <a:defRPr sz="3311"/>
            </a:lvl6pPr>
            <a:lvl7pPr marL="9081820" indent="0">
              <a:buNone/>
              <a:defRPr sz="3311"/>
            </a:lvl7pPr>
            <a:lvl8pPr marL="10595456" indent="0">
              <a:buNone/>
              <a:defRPr sz="3311"/>
            </a:lvl8pPr>
            <a:lvl9pPr marL="12109093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36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10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4"/>
            </a:lvl1pPr>
            <a:lvl2pPr marL="1513636" indent="0">
              <a:buNone/>
              <a:defRPr sz="9270"/>
            </a:lvl2pPr>
            <a:lvl3pPr marL="3027273" indent="0">
              <a:buNone/>
              <a:defRPr sz="7945"/>
            </a:lvl3pPr>
            <a:lvl4pPr marL="4540910" indent="0">
              <a:buNone/>
              <a:defRPr sz="6621"/>
            </a:lvl4pPr>
            <a:lvl5pPr marL="6054547" indent="0">
              <a:buNone/>
              <a:defRPr sz="6621"/>
            </a:lvl5pPr>
            <a:lvl6pPr marL="7568183" indent="0">
              <a:buNone/>
              <a:defRPr sz="6621"/>
            </a:lvl6pPr>
            <a:lvl7pPr marL="9081820" indent="0">
              <a:buNone/>
              <a:defRPr sz="6621"/>
            </a:lvl7pPr>
            <a:lvl8pPr marL="10595456" indent="0">
              <a:buNone/>
              <a:defRPr sz="6621"/>
            </a:lvl8pPr>
            <a:lvl9pPr marL="12109093" indent="0">
              <a:buNone/>
              <a:defRPr sz="66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6"/>
            </a:lvl1pPr>
            <a:lvl2pPr marL="1513636" indent="0">
              <a:buNone/>
              <a:defRPr sz="4635"/>
            </a:lvl2pPr>
            <a:lvl3pPr marL="3027273" indent="0">
              <a:buNone/>
              <a:defRPr sz="3973"/>
            </a:lvl3pPr>
            <a:lvl4pPr marL="4540910" indent="0">
              <a:buNone/>
              <a:defRPr sz="3311"/>
            </a:lvl4pPr>
            <a:lvl5pPr marL="6054547" indent="0">
              <a:buNone/>
              <a:defRPr sz="3311"/>
            </a:lvl5pPr>
            <a:lvl6pPr marL="7568183" indent="0">
              <a:buNone/>
              <a:defRPr sz="3311"/>
            </a:lvl6pPr>
            <a:lvl7pPr marL="9081820" indent="0">
              <a:buNone/>
              <a:defRPr sz="3311"/>
            </a:lvl7pPr>
            <a:lvl8pPr marL="10595456" indent="0">
              <a:buNone/>
              <a:defRPr sz="3311"/>
            </a:lvl8pPr>
            <a:lvl9pPr marL="12109093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1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2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2" y="2278905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5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1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2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2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0B498-9D4D-4FAD-891F-E57FF8B5A02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70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82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273" rtl="0" eaLnBrk="1" latinLnBrk="0" hangingPunct="1">
        <a:lnSpc>
          <a:spcPct val="90000"/>
        </a:lnSpc>
        <a:spcBef>
          <a:spcPct val="0"/>
        </a:spcBef>
        <a:buNone/>
        <a:defRPr sz="145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19" indent="-756819" algn="l" defTabSz="3027273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0" kern="1200">
          <a:solidFill>
            <a:schemeClr val="tx1"/>
          </a:solidFill>
          <a:latin typeface="+mn-lt"/>
          <a:ea typeface="+mn-ea"/>
          <a:cs typeface="+mn-cs"/>
        </a:defRPr>
      </a:lvl1pPr>
      <a:lvl2pPr marL="227045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5" kern="1200">
          <a:solidFill>
            <a:schemeClr val="tx1"/>
          </a:solidFill>
          <a:latin typeface="+mn-lt"/>
          <a:ea typeface="+mn-ea"/>
          <a:cs typeface="+mn-cs"/>
        </a:defRPr>
      </a:lvl2pPr>
      <a:lvl3pPr marL="3784092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1" kern="1200">
          <a:solidFill>
            <a:schemeClr val="tx1"/>
          </a:solidFill>
          <a:latin typeface="+mn-lt"/>
          <a:ea typeface="+mn-ea"/>
          <a:cs typeface="+mn-cs"/>
        </a:defRPr>
      </a:lvl3pPr>
      <a:lvl4pPr marL="5297728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81136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8325001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838639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135227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865912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1pPr>
      <a:lvl2pPr marL="1513636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2pPr>
      <a:lvl3pPr marL="302727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3pPr>
      <a:lvl4pPr marL="454091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054547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756818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08182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0595456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10909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microsoft.com/office/2018/10/relationships/comments" Target="../comments/modernComment_100_2781D39F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CA9DE5D-D514-FAEA-8688-71D43253F7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13033" y="10650786"/>
            <a:ext cx="27852588" cy="10105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0386EC-D1AC-48D0-B2EC-0AD1DA88A8AB}"/>
              </a:ext>
            </a:extLst>
          </p:cNvPr>
          <p:cNvSpPr>
            <a:spLocks/>
          </p:cNvSpPr>
          <p:nvPr/>
        </p:nvSpPr>
        <p:spPr>
          <a:xfrm>
            <a:off x="0" y="-64708"/>
            <a:ext cx="30275212" cy="3409387"/>
          </a:xfrm>
          <a:prstGeom prst="rect">
            <a:avLst/>
          </a:prstGeom>
          <a:solidFill>
            <a:srgbClr val="E74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703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9EE2F9-E368-471F-966F-6846CB3D7866}"/>
              </a:ext>
            </a:extLst>
          </p:cNvPr>
          <p:cNvSpPr>
            <a:spLocks/>
          </p:cNvSpPr>
          <p:nvPr/>
        </p:nvSpPr>
        <p:spPr>
          <a:xfrm>
            <a:off x="944436" y="364876"/>
            <a:ext cx="28559786" cy="2241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de-DE" sz="11999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Wie sicher ist Ihre Software wirklich?</a:t>
            </a:r>
            <a:endParaRPr lang="de-DE" sz="11999" dirty="0">
              <a:latin typeface="Segoe UI Light" panose="020B05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CD9CC-0316-26D8-3153-0E55BAB1E237}"/>
              </a:ext>
            </a:extLst>
          </p:cNvPr>
          <p:cNvSpPr txBox="1"/>
          <p:nvPr/>
        </p:nvSpPr>
        <p:spPr>
          <a:xfrm>
            <a:off x="1313032" y="5511349"/>
            <a:ext cx="27822593" cy="44521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432502" tIns="432502" rIns="432502" bIns="43250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Problem: </a:t>
            </a:r>
          </a:p>
          <a:p>
            <a:pPr marL="571460" indent="-57146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40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Aktuelle Softwareverschleierungsmethoden (opake Prädikate) sind nicht </a:t>
            </a:r>
            <a:r>
              <a:rPr lang="de-DE" sz="400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resistant</a:t>
            </a:r>
            <a:r>
              <a:rPr lang="de-DE" sz="40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gegenüber symbolischer Ausführung </a:t>
            </a:r>
            <a:r>
              <a:rPr lang="de-DE" sz="40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 Möglichkeit, Software zu verstehen &amp; zu rekonstruieren</a:t>
            </a:r>
          </a:p>
          <a:p>
            <a:pPr marL="571460" indent="-57146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40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~1.5 Mrd. Euro an Profit gehen jährlich in der EU durch Reverse Engineering/</a:t>
            </a:r>
            <a:r>
              <a:rPr lang="de-DE" sz="400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Cracking</a:t>
            </a:r>
            <a:r>
              <a:rPr lang="de-DE" sz="40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 verloren</a:t>
            </a:r>
            <a:endParaRPr lang="de-DE" sz="4000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DF1688-4DF4-E78B-4843-962D6FA7479F}"/>
              </a:ext>
            </a:extLst>
          </p:cNvPr>
          <p:cNvSpPr txBox="1"/>
          <p:nvPr/>
        </p:nvSpPr>
        <p:spPr>
          <a:xfrm>
            <a:off x="1770200" y="4033334"/>
            <a:ext cx="23276186" cy="105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243" i="1" dirty="0">
                <a:solidFill>
                  <a:srgbClr val="26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Probabilistische opake Prädikate gegen symbolische Ausführung</a:t>
            </a:r>
          </a:p>
        </p:txBody>
      </p:sp>
      <p:sp>
        <p:nvSpPr>
          <p:cNvPr id="15" name="TextBox 31">
            <a:extLst>
              <a:ext uri="{FF2B5EF4-FFF2-40B4-BE49-F238E27FC236}">
                <a16:creationId xmlns:a16="http://schemas.microsoft.com/office/drawing/2014/main" id="{D6D746A6-F08E-ACDA-19A7-91938672D43E}"/>
              </a:ext>
            </a:extLst>
          </p:cNvPr>
          <p:cNvSpPr txBox="1"/>
          <p:nvPr/>
        </p:nvSpPr>
        <p:spPr>
          <a:xfrm>
            <a:off x="1313032" y="21163521"/>
            <a:ext cx="13824574" cy="199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40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1: </a:t>
            </a:r>
            <a:r>
              <a:rPr lang="de-DE" sz="4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</a:t>
            </a:r>
            <a:r>
              <a:rPr lang="de-DE" sz="44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mediane Laufzeitimpakt </a:t>
            </a:r>
            <a:r>
              <a:rPr lang="de-DE" sz="4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neuen </a:t>
            </a:r>
            <a:r>
              <a:rPr lang="de-DE" sz="440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Obfuskation</a:t>
            </a:r>
            <a:r>
              <a:rPr lang="de-DE" sz="4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ist </a:t>
            </a:r>
            <a:r>
              <a:rPr lang="de-DE" sz="44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gering</a:t>
            </a:r>
            <a:r>
              <a:rPr lang="de-DE" sz="4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. Die Varianz ist allerdings groß.</a:t>
            </a:r>
          </a:p>
        </p:txBody>
      </p:sp>
      <p:sp>
        <p:nvSpPr>
          <p:cNvPr id="16" name="TextBox 32">
            <a:extLst>
              <a:ext uri="{FF2B5EF4-FFF2-40B4-BE49-F238E27FC236}">
                <a16:creationId xmlns:a16="http://schemas.microsoft.com/office/drawing/2014/main" id="{7E680F55-917F-DD56-7380-3B1C0742537D}"/>
              </a:ext>
            </a:extLst>
          </p:cNvPr>
          <p:cNvSpPr txBox="1"/>
          <p:nvPr/>
        </p:nvSpPr>
        <p:spPr>
          <a:xfrm>
            <a:off x="15137606" y="21163522"/>
            <a:ext cx="13998019" cy="3013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40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2:</a:t>
            </a:r>
            <a:r>
              <a:rPr lang="de-DE" sz="4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Trotz der geringen Wahrscheinlichkeit, dass die POP-Prädikate den falschen Wert annehmen, </a:t>
            </a:r>
            <a:r>
              <a:rPr lang="de-DE" sz="44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funktionieren alle Programme </a:t>
            </a:r>
            <a:r>
              <a:rPr lang="de-DE" sz="4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.</a:t>
            </a:r>
            <a:endParaRPr lang="de-DE" sz="4400" dirty="0"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E974A6F0-C6F8-6190-1F95-554AE433F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8102" y="24282285"/>
            <a:ext cx="9842100" cy="8201750"/>
          </a:xfrm>
          <a:prstGeom prst="rect">
            <a:avLst/>
          </a:prstGeom>
          <a:effectLst>
            <a:outerShdw blurRad="723900" dist="114300" dir="2700000" algn="ctr" rotWithShape="0">
              <a:schemeClr val="tx1">
                <a:alpha val="10000"/>
              </a:schemeClr>
            </a:outerShdw>
          </a:effectLst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60744A63-471B-E3AF-0286-CEC97EA051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15564" y="24282285"/>
            <a:ext cx="9842100" cy="8201750"/>
          </a:xfrm>
          <a:prstGeom prst="rect">
            <a:avLst/>
          </a:prstGeom>
          <a:effectLst>
            <a:outerShdw blurRad="723900" dist="114300" dir="2700000" algn="ctr" rotWithShape="0">
              <a:schemeClr val="tx1">
                <a:alpha val="10000"/>
              </a:schemeClr>
            </a:outerShdw>
          </a:effectLst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4786EE92-74BC-1ACF-4B23-ED5AB523CA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18102" y="34372142"/>
            <a:ext cx="9842100" cy="8201750"/>
          </a:xfrm>
          <a:prstGeom prst="rect">
            <a:avLst/>
          </a:prstGeom>
          <a:effectLst>
            <a:outerShdw blurRad="723900" dist="114300" dir="2700000" algn="ctr" rotWithShape="0">
              <a:schemeClr val="tx1">
                <a:alpha val="10000"/>
              </a:schemeClr>
            </a:outerShdw>
          </a:effectLst>
        </p:spPr>
      </p:pic>
      <p:sp>
        <p:nvSpPr>
          <p:cNvPr id="30" name="TextBox 31">
            <a:extLst>
              <a:ext uri="{FF2B5EF4-FFF2-40B4-BE49-F238E27FC236}">
                <a16:creationId xmlns:a16="http://schemas.microsoft.com/office/drawing/2014/main" id="{644ABD35-4DA3-F529-7A4C-43FF56FEE7F1}"/>
              </a:ext>
            </a:extLst>
          </p:cNvPr>
          <p:cNvSpPr txBox="1"/>
          <p:nvPr/>
        </p:nvSpPr>
        <p:spPr>
          <a:xfrm>
            <a:off x="1313032" y="32266322"/>
            <a:ext cx="13824574" cy="199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40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3: </a:t>
            </a:r>
            <a:r>
              <a:rPr lang="de-DE" sz="4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</a:t>
            </a:r>
            <a:r>
              <a:rPr lang="de-DE" sz="44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mediane Speicherimpakt </a:t>
            </a:r>
            <a:r>
              <a:rPr lang="de-DE" sz="4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neuen </a:t>
            </a:r>
            <a:r>
              <a:rPr lang="de-DE" sz="440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Obfuskation</a:t>
            </a:r>
            <a:r>
              <a:rPr lang="de-DE" sz="4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ist </a:t>
            </a:r>
            <a:r>
              <a:rPr lang="de-DE" sz="44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gering</a:t>
            </a:r>
            <a:r>
              <a:rPr lang="de-DE" sz="4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. Die Varianz ist allerdings groß.</a:t>
            </a:r>
          </a:p>
        </p:txBody>
      </p:sp>
      <p:sp>
        <p:nvSpPr>
          <p:cNvPr id="40" name="TextBox 31">
            <a:extLst>
              <a:ext uri="{FF2B5EF4-FFF2-40B4-BE49-F238E27FC236}">
                <a16:creationId xmlns:a16="http://schemas.microsoft.com/office/drawing/2014/main" id="{A57E8BA5-BF3E-643B-A93A-97B3BACB816E}"/>
              </a:ext>
            </a:extLst>
          </p:cNvPr>
          <p:cNvSpPr txBox="1"/>
          <p:nvPr/>
        </p:nvSpPr>
        <p:spPr>
          <a:xfrm>
            <a:off x="15137605" y="32266322"/>
            <a:ext cx="14890111" cy="199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40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4: </a:t>
            </a:r>
            <a:r>
              <a:rPr lang="de-DE" sz="4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</a:t>
            </a:r>
            <a:r>
              <a:rPr lang="de-DE" sz="44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eingefügte Programmcode unterscheidet sich statistisch </a:t>
            </a:r>
            <a:r>
              <a:rPr lang="de-DE" sz="4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von regulären Programmen.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E0EDD08-C631-2CEB-7B4A-D39B9A720A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02668" y="34372141"/>
            <a:ext cx="13867893" cy="8089604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Flussdiagramm: Verzweigung 3">
                <a:extLst>
                  <a:ext uri="{FF2B5EF4-FFF2-40B4-BE49-F238E27FC236}">
                    <a16:creationId xmlns:a16="http://schemas.microsoft.com/office/drawing/2014/main" id="{55EDCBEF-CA75-2A1B-A39C-D64FD247A331}"/>
                  </a:ext>
                </a:extLst>
              </p:cNvPr>
              <p:cNvSpPr/>
              <p:nvPr/>
            </p:nvSpPr>
            <p:spPr>
              <a:xfrm>
                <a:off x="5250428" y="12029996"/>
                <a:ext cx="2556118" cy="2631298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DE" sz="28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2800" i="1" smtClean="0">
                          <a:latin typeface="Cambria Math" panose="02040503050406030204" pitchFamily="18" charset="0"/>
                        </a:rPr>
                        <m:t>=2?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4" name="Flussdiagramm: Verzweigung 3">
                <a:extLst>
                  <a:ext uri="{FF2B5EF4-FFF2-40B4-BE49-F238E27FC236}">
                    <a16:creationId xmlns:a16="http://schemas.microsoft.com/office/drawing/2014/main" id="{55EDCBEF-CA75-2A1B-A39C-D64FD247A3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428" y="12029996"/>
                <a:ext cx="2556118" cy="2631298"/>
              </a:xfrm>
              <a:prstGeom prst="flowChartDecision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88451A1-7BF8-BC23-6C51-ACD25C235A59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 flipH="1">
            <a:off x="4866968" y="14661294"/>
            <a:ext cx="1661518" cy="1710812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B9713D4-B807-2D38-3704-9D57E76034B0}"/>
              </a:ext>
            </a:extLst>
          </p:cNvPr>
          <p:cNvCxnSpPr>
            <a:cxnSpLocks/>
            <a:stCxn id="4" idx="2"/>
            <a:endCxn id="17" idx="0"/>
          </p:cNvCxnSpPr>
          <p:nvPr/>
        </p:nvCxnSpPr>
        <p:spPr>
          <a:xfrm>
            <a:off x="6528487" y="14661294"/>
            <a:ext cx="1710811" cy="1710812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ussdiagramm: Prozess 13">
            <a:extLst>
              <a:ext uri="{FF2B5EF4-FFF2-40B4-BE49-F238E27FC236}">
                <a16:creationId xmlns:a16="http://schemas.microsoft.com/office/drawing/2014/main" id="{F1010F55-0C93-DEF4-778E-C11CA3C9AF92}"/>
              </a:ext>
            </a:extLst>
          </p:cNvPr>
          <p:cNvSpPr/>
          <p:nvPr/>
        </p:nvSpPr>
        <p:spPr>
          <a:xfrm>
            <a:off x="4036210" y="16372106"/>
            <a:ext cx="1661518" cy="171081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599" dirty="0"/>
              <a:t>A</a:t>
            </a:r>
          </a:p>
        </p:txBody>
      </p:sp>
      <p:sp>
        <p:nvSpPr>
          <p:cNvPr id="17" name="Flussdiagramm: Prozess 16">
            <a:extLst>
              <a:ext uri="{FF2B5EF4-FFF2-40B4-BE49-F238E27FC236}">
                <a16:creationId xmlns:a16="http://schemas.microsoft.com/office/drawing/2014/main" id="{D5A45F03-D6CF-EF5F-CAB3-FE13CC266AE6}"/>
              </a:ext>
            </a:extLst>
          </p:cNvPr>
          <p:cNvSpPr/>
          <p:nvPr/>
        </p:nvSpPr>
        <p:spPr>
          <a:xfrm>
            <a:off x="7408539" y="16372106"/>
            <a:ext cx="1661518" cy="171081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599" dirty="0"/>
              <a:t>B</a:t>
            </a:r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C4456CE6-BB39-E3FA-9D05-9FC65A21AF8B}"/>
              </a:ext>
            </a:extLst>
          </p:cNvPr>
          <p:cNvGrpSpPr/>
          <p:nvPr/>
        </p:nvGrpSpPr>
        <p:grpSpPr>
          <a:xfrm>
            <a:off x="19877392" y="10830885"/>
            <a:ext cx="6247134" cy="9745433"/>
            <a:chOff x="10885976" y="10931049"/>
            <a:chExt cx="6669211" cy="104038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Flussdiagramm: Verzweigung 21">
                  <a:extLst>
                    <a:ext uri="{FF2B5EF4-FFF2-40B4-BE49-F238E27FC236}">
                      <a16:creationId xmlns:a16="http://schemas.microsoft.com/office/drawing/2014/main" id="{C2534D18-4C68-9553-9B69-2FF2A2AB7174}"/>
                    </a:ext>
                  </a:extLst>
                </p:cNvPr>
                <p:cNvSpPr/>
                <p:nvPr/>
              </p:nvSpPr>
              <p:spPr>
                <a:xfrm>
                  <a:off x="12100193" y="15281994"/>
                  <a:ext cx="2556119" cy="2631298"/>
                </a:xfrm>
                <a:prstGeom prst="flowChartDecis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=2?</m:t>
                        </m:r>
                      </m:oMath>
                    </m:oMathPara>
                  </a14:m>
                  <a:endParaRPr lang="de-DE" sz="3200" dirty="0"/>
                </a:p>
              </p:txBody>
            </p:sp>
          </mc:Choice>
          <mc:Fallback xmlns="">
            <p:sp>
              <p:nvSpPr>
                <p:cNvPr id="22" name="Flussdiagramm: Verzweigung 21">
                  <a:extLst>
                    <a:ext uri="{FF2B5EF4-FFF2-40B4-BE49-F238E27FC236}">
                      <a16:creationId xmlns:a16="http://schemas.microsoft.com/office/drawing/2014/main" id="{C2534D18-4C68-9553-9B69-2FF2A2AB71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00193" y="15281994"/>
                  <a:ext cx="2556119" cy="2631298"/>
                </a:xfrm>
                <a:prstGeom prst="flowChartDecision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DEB4A407-F55C-07CC-DEA5-672358E67DC8}"/>
                </a:ext>
              </a:extLst>
            </p:cNvPr>
            <p:cNvCxnSpPr>
              <a:cxnSpLocks/>
              <a:stCxn id="22" idx="2"/>
              <a:endCxn id="27" idx="0"/>
            </p:cNvCxnSpPr>
            <p:nvPr/>
          </p:nvCxnSpPr>
          <p:spPr>
            <a:xfrm flipH="1">
              <a:off x="11716735" y="17913292"/>
              <a:ext cx="1661518" cy="1710812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115528AD-53E7-DF3E-AD7E-A68A559AC324}"/>
                </a:ext>
              </a:extLst>
            </p:cNvPr>
            <p:cNvCxnSpPr>
              <a:cxnSpLocks/>
              <a:stCxn id="22" idx="2"/>
              <a:endCxn id="28" idx="0"/>
            </p:cNvCxnSpPr>
            <p:nvPr/>
          </p:nvCxnSpPr>
          <p:spPr>
            <a:xfrm>
              <a:off x="13378253" y="17913292"/>
              <a:ext cx="1710811" cy="1710812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lussdiagramm: Prozess 26">
              <a:extLst>
                <a:ext uri="{FF2B5EF4-FFF2-40B4-BE49-F238E27FC236}">
                  <a16:creationId xmlns:a16="http://schemas.microsoft.com/office/drawing/2014/main" id="{28B1CC9E-A539-978C-A2F0-4498C3109329}"/>
                </a:ext>
              </a:extLst>
            </p:cNvPr>
            <p:cNvSpPr/>
            <p:nvPr/>
          </p:nvSpPr>
          <p:spPr>
            <a:xfrm>
              <a:off x="10885976" y="19624104"/>
              <a:ext cx="1661518" cy="1710812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599" dirty="0"/>
                <a:t>A</a:t>
              </a:r>
            </a:p>
          </p:txBody>
        </p:sp>
        <p:sp>
          <p:nvSpPr>
            <p:cNvPr id="28" name="Flussdiagramm: Prozess 27">
              <a:extLst>
                <a:ext uri="{FF2B5EF4-FFF2-40B4-BE49-F238E27FC236}">
                  <a16:creationId xmlns:a16="http://schemas.microsoft.com/office/drawing/2014/main" id="{F8554627-9B89-7DC3-7FD5-449CD861C8F5}"/>
                </a:ext>
              </a:extLst>
            </p:cNvPr>
            <p:cNvSpPr/>
            <p:nvPr/>
          </p:nvSpPr>
          <p:spPr>
            <a:xfrm>
              <a:off x="14258305" y="19624104"/>
              <a:ext cx="1661518" cy="1710812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599" dirty="0"/>
                <a:t>B</a:t>
              </a:r>
            </a:p>
          </p:txBody>
        </p:sp>
        <p:sp>
          <p:nvSpPr>
            <p:cNvPr id="5" name="Flussdiagramm: Verzweigung 4">
              <a:extLst>
                <a:ext uri="{FF2B5EF4-FFF2-40B4-BE49-F238E27FC236}">
                  <a16:creationId xmlns:a16="http://schemas.microsoft.com/office/drawing/2014/main" id="{92C19CA5-0112-ACCC-4FCD-6C11526374A7}"/>
                </a:ext>
              </a:extLst>
            </p:cNvPr>
            <p:cNvSpPr/>
            <p:nvPr/>
          </p:nvSpPr>
          <p:spPr>
            <a:xfrm>
              <a:off x="13784850" y="10931049"/>
              <a:ext cx="2556119" cy="2631298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800" b="1" dirty="0"/>
            </a:p>
          </p:txBody>
        </p: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73A21A80-EC9D-C1B8-5A8F-A7C9D62A19A4}"/>
                </a:ext>
              </a:extLst>
            </p:cNvPr>
            <p:cNvCxnSpPr>
              <a:cxnSpLocks/>
              <a:stCxn id="5" idx="2"/>
              <a:endCxn id="22" idx="0"/>
            </p:cNvCxnSpPr>
            <p:nvPr/>
          </p:nvCxnSpPr>
          <p:spPr>
            <a:xfrm flipH="1">
              <a:off x="13378253" y="13562347"/>
              <a:ext cx="1684657" cy="1719647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CC7B4D57-A681-EB34-E82B-37391AF8F1E5}"/>
                </a:ext>
              </a:extLst>
            </p:cNvPr>
            <p:cNvCxnSpPr>
              <a:cxnSpLocks/>
              <a:stCxn id="5" idx="2"/>
              <a:endCxn id="46" idx="0"/>
            </p:cNvCxnSpPr>
            <p:nvPr/>
          </p:nvCxnSpPr>
          <p:spPr>
            <a:xfrm>
              <a:off x="15062910" y="13562347"/>
              <a:ext cx="1661518" cy="1719647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Flussdiagramm: Prozess 45">
              <a:extLst>
                <a:ext uri="{FF2B5EF4-FFF2-40B4-BE49-F238E27FC236}">
                  <a16:creationId xmlns:a16="http://schemas.microsoft.com/office/drawing/2014/main" id="{E102726F-EA45-0254-4C51-6E4D1391F32D}"/>
                </a:ext>
              </a:extLst>
            </p:cNvPr>
            <p:cNvSpPr/>
            <p:nvPr/>
          </p:nvSpPr>
          <p:spPr>
            <a:xfrm>
              <a:off x="15893669" y="15281994"/>
              <a:ext cx="1661518" cy="1710812"/>
            </a:xfrm>
            <a:prstGeom prst="flowChartProcess">
              <a:avLst/>
            </a:prstGeom>
            <a:solidFill>
              <a:srgbClr val="E7414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599" dirty="0"/>
                <a:t>C</a:t>
              </a:r>
            </a:p>
          </p:txBody>
        </p:sp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A103DAFE-9E89-EB62-4309-CCEC6E8EE28C}"/>
              </a:ext>
            </a:extLst>
          </p:cNvPr>
          <p:cNvGrpSpPr/>
          <p:nvPr/>
        </p:nvGrpSpPr>
        <p:grpSpPr>
          <a:xfrm>
            <a:off x="11918844" y="10830885"/>
            <a:ext cx="6247134" cy="9745433"/>
            <a:chOff x="10885976" y="10931049"/>
            <a:chExt cx="6669211" cy="104038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Flussdiagramm: Verzweigung 50">
                  <a:extLst>
                    <a:ext uri="{FF2B5EF4-FFF2-40B4-BE49-F238E27FC236}">
                      <a16:creationId xmlns:a16="http://schemas.microsoft.com/office/drawing/2014/main" id="{0905448C-CF87-088C-853F-BB69AD354473}"/>
                    </a:ext>
                  </a:extLst>
                </p:cNvPr>
                <p:cNvSpPr/>
                <p:nvPr/>
              </p:nvSpPr>
              <p:spPr>
                <a:xfrm>
                  <a:off x="12100193" y="15281994"/>
                  <a:ext cx="2556119" cy="2631298"/>
                </a:xfrm>
                <a:prstGeom prst="flowChartDecis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=2?</m:t>
                        </m:r>
                      </m:oMath>
                    </m:oMathPara>
                  </a14:m>
                  <a:endParaRPr lang="de-DE" sz="3200" dirty="0"/>
                </a:p>
              </p:txBody>
            </p:sp>
          </mc:Choice>
          <mc:Fallback xmlns="">
            <p:sp>
              <p:nvSpPr>
                <p:cNvPr id="51" name="Flussdiagramm: Verzweigung 50">
                  <a:extLst>
                    <a:ext uri="{FF2B5EF4-FFF2-40B4-BE49-F238E27FC236}">
                      <a16:creationId xmlns:a16="http://schemas.microsoft.com/office/drawing/2014/main" id="{0905448C-CF87-088C-853F-BB69AD3544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00193" y="15281994"/>
                  <a:ext cx="2556119" cy="2631298"/>
                </a:xfrm>
                <a:prstGeom prst="flowChartDecision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Gerade Verbindung mit Pfeil 51">
              <a:extLst>
                <a:ext uri="{FF2B5EF4-FFF2-40B4-BE49-F238E27FC236}">
                  <a16:creationId xmlns:a16="http://schemas.microsoft.com/office/drawing/2014/main" id="{84FB0882-E322-D4A4-5AFB-53A347DFE0BE}"/>
                </a:ext>
              </a:extLst>
            </p:cNvPr>
            <p:cNvCxnSpPr>
              <a:cxnSpLocks/>
              <a:stCxn id="51" idx="2"/>
              <a:endCxn id="54" idx="0"/>
            </p:cNvCxnSpPr>
            <p:nvPr/>
          </p:nvCxnSpPr>
          <p:spPr>
            <a:xfrm flipH="1">
              <a:off x="11716735" y="17913292"/>
              <a:ext cx="1661518" cy="1710812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mit Pfeil 52">
              <a:extLst>
                <a:ext uri="{FF2B5EF4-FFF2-40B4-BE49-F238E27FC236}">
                  <a16:creationId xmlns:a16="http://schemas.microsoft.com/office/drawing/2014/main" id="{73DB60A6-26C4-7BED-9AE7-6204914CC06F}"/>
                </a:ext>
              </a:extLst>
            </p:cNvPr>
            <p:cNvCxnSpPr>
              <a:cxnSpLocks/>
              <a:stCxn id="51" idx="2"/>
              <a:endCxn id="55" idx="0"/>
            </p:cNvCxnSpPr>
            <p:nvPr/>
          </p:nvCxnSpPr>
          <p:spPr>
            <a:xfrm>
              <a:off x="13378253" y="17913292"/>
              <a:ext cx="1710811" cy="1710812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Flussdiagramm: Prozess 53">
              <a:extLst>
                <a:ext uri="{FF2B5EF4-FFF2-40B4-BE49-F238E27FC236}">
                  <a16:creationId xmlns:a16="http://schemas.microsoft.com/office/drawing/2014/main" id="{E9F612ED-3C4C-26BA-0722-E6D82A7EC50D}"/>
                </a:ext>
              </a:extLst>
            </p:cNvPr>
            <p:cNvSpPr/>
            <p:nvPr/>
          </p:nvSpPr>
          <p:spPr>
            <a:xfrm>
              <a:off x="10885976" y="19624104"/>
              <a:ext cx="1661518" cy="1710812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599" dirty="0"/>
                <a:t>A</a:t>
              </a:r>
            </a:p>
          </p:txBody>
        </p:sp>
        <p:sp>
          <p:nvSpPr>
            <p:cNvPr id="55" name="Flussdiagramm: Prozess 54">
              <a:extLst>
                <a:ext uri="{FF2B5EF4-FFF2-40B4-BE49-F238E27FC236}">
                  <a16:creationId xmlns:a16="http://schemas.microsoft.com/office/drawing/2014/main" id="{C1C5FAB5-A2E1-C953-C3D0-98E998D3DC78}"/>
                </a:ext>
              </a:extLst>
            </p:cNvPr>
            <p:cNvSpPr/>
            <p:nvPr/>
          </p:nvSpPr>
          <p:spPr>
            <a:xfrm>
              <a:off x="14258305" y="19624104"/>
              <a:ext cx="1661518" cy="1710812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599" dirty="0"/>
                <a:t>B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Flussdiagramm: Verzweigung 55">
                  <a:extLst>
                    <a:ext uri="{FF2B5EF4-FFF2-40B4-BE49-F238E27FC236}">
                      <a16:creationId xmlns:a16="http://schemas.microsoft.com/office/drawing/2014/main" id="{7E8AA945-9454-E271-AAA8-BD9FCD30073F}"/>
                    </a:ext>
                  </a:extLst>
                </p:cNvPr>
                <p:cNvSpPr/>
                <p:nvPr/>
              </p:nvSpPr>
              <p:spPr>
                <a:xfrm>
                  <a:off x="13784850" y="10931049"/>
                  <a:ext cx="2556119" cy="2631298"/>
                </a:xfrm>
                <a:prstGeom prst="flowChartDecis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1=1?</m:t>
                        </m:r>
                      </m:oMath>
                    </m:oMathPara>
                  </a14:m>
                  <a:endParaRPr lang="de-DE" sz="3200" dirty="0"/>
                </a:p>
              </p:txBody>
            </p:sp>
          </mc:Choice>
          <mc:Fallback xmlns="">
            <p:sp>
              <p:nvSpPr>
                <p:cNvPr id="56" name="Flussdiagramm: Verzweigung 55">
                  <a:extLst>
                    <a:ext uri="{FF2B5EF4-FFF2-40B4-BE49-F238E27FC236}">
                      <a16:creationId xmlns:a16="http://schemas.microsoft.com/office/drawing/2014/main" id="{7E8AA945-9454-E271-AAA8-BD9FCD3007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84850" y="10931049"/>
                  <a:ext cx="2556119" cy="2631298"/>
                </a:xfrm>
                <a:prstGeom prst="flowChartDecision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Gerade Verbindung mit Pfeil 56">
              <a:extLst>
                <a:ext uri="{FF2B5EF4-FFF2-40B4-BE49-F238E27FC236}">
                  <a16:creationId xmlns:a16="http://schemas.microsoft.com/office/drawing/2014/main" id="{1D13DCC0-BF19-AACC-F426-1BF41858DB98}"/>
                </a:ext>
              </a:extLst>
            </p:cNvPr>
            <p:cNvCxnSpPr>
              <a:cxnSpLocks/>
              <a:stCxn id="56" idx="2"/>
              <a:endCxn id="51" idx="0"/>
            </p:cNvCxnSpPr>
            <p:nvPr/>
          </p:nvCxnSpPr>
          <p:spPr>
            <a:xfrm flipH="1">
              <a:off x="13378253" y="13562347"/>
              <a:ext cx="1684657" cy="1719647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mit Pfeil 57">
              <a:extLst>
                <a:ext uri="{FF2B5EF4-FFF2-40B4-BE49-F238E27FC236}">
                  <a16:creationId xmlns:a16="http://schemas.microsoft.com/office/drawing/2014/main" id="{AC776505-04F3-2EE6-F5F4-E4DA43738256}"/>
                </a:ext>
              </a:extLst>
            </p:cNvPr>
            <p:cNvCxnSpPr>
              <a:cxnSpLocks/>
              <a:stCxn id="56" idx="2"/>
              <a:endCxn id="59" idx="0"/>
            </p:cNvCxnSpPr>
            <p:nvPr/>
          </p:nvCxnSpPr>
          <p:spPr>
            <a:xfrm>
              <a:off x="15062910" y="13562347"/>
              <a:ext cx="1661518" cy="1719647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Flussdiagramm: Prozess 58">
              <a:extLst>
                <a:ext uri="{FF2B5EF4-FFF2-40B4-BE49-F238E27FC236}">
                  <a16:creationId xmlns:a16="http://schemas.microsoft.com/office/drawing/2014/main" id="{5D65F270-A91B-8CA0-907C-EB3C4BCD2D6C}"/>
                </a:ext>
              </a:extLst>
            </p:cNvPr>
            <p:cNvSpPr/>
            <p:nvPr/>
          </p:nvSpPr>
          <p:spPr>
            <a:xfrm>
              <a:off x="15893669" y="15281994"/>
              <a:ext cx="1661518" cy="1710812"/>
            </a:xfrm>
            <a:prstGeom prst="flowChartProcess">
              <a:avLst/>
            </a:prstGeom>
            <a:solidFill>
              <a:srgbClr val="E7414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599" dirty="0"/>
                <a:t>C</a:t>
              </a:r>
            </a:p>
          </p:txBody>
        </p:sp>
      </p:grpSp>
      <p:sp>
        <p:nvSpPr>
          <p:cNvPr id="61" name="Textfeld 60">
            <a:extLst>
              <a:ext uri="{FF2B5EF4-FFF2-40B4-BE49-F238E27FC236}">
                <a16:creationId xmlns:a16="http://schemas.microsoft.com/office/drawing/2014/main" id="{35559C2C-8A18-BE70-5AF0-32E7D6E17994}"/>
              </a:ext>
            </a:extLst>
          </p:cNvPr>
          <p:cNvSpPr txBox="1"/>
          <p:nvPr/>
        </p:nvSpPr>
        <p:spPr>
          <a:xfrm>
            <a:off x="5021622" y="15148099"/>
            <a:ext cx="8648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>
                <a:latin typeface="Segoe UI" panose="020B0502040204020203" pitchFamily="34" charset="0"/>
                <a:cs typeface="Segoe UI" panose="020B0502040204020203" pitchFamily="34" charset="0"/>
              </a:rPr>
              <a:t>wahr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DAC68CDB-6860-AD17-B42D-8A41D74F192F}"/>
              </a:ext>
            </a:extLst>
          </p:cNvPr>
          <p:cNvSpPr txBox="1"/>
          <p:nvPr/>
        </p:nvSpPr>
        <p:spPr>
          <a:xfrm>
            <a:off x="7379894" y="15148098"/>
            <a:ext cx="1068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>
                <a:latin typeface="Segoe UI" panose="020B0502040204020203" pitchFamily="34" charset="0"/>
                <a:cs typeface="Segoe UI" panose="020B0502040204020203" pitchFamily="34" charset="0"/>
              </a:rPr>
              <a:t>falsch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54BD6433-2BD3-6ECA-01FB-C9D217294F72}"/>
              </a:ext>
            </a:extLst>
          </p:cNvPr>
          <p:cNvSpPr txBox="1"/>
          <p:nvPr/>
        </p:nvSpPr>
        <p:spPr>
          <a:xfrm>
            <a:off x="13978093" y="13727205"/>
            <a:ext cx="1312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100%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44E46076-C3F1-F1FB-F612-D139FB40E5A5}"/>
              </a:ext>
            </a:extLst>
          </p:cNvPr>
          <p:cNvSpPr txBox="1"/>
          <p:nvPr/>
        </p:nvSpPr>
        <p:spPr>
          <a:xfrm>
            <a:off x="16531904" y="13727205"/>
            <a:ext cx="1312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0%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50BFC37F-E902-AC32-C706-929043296213}"/>
              </a:ext>
            </a:extLst>
          </p:cNvPr>
          <p:cNvSpPr txBox="1"/>
          <p:nvPr/>
        </p:nvSpPr>
        <p:spPr>
          <a:xfrm>
            <a:off x="21843255" y="13727206"/>
            <a:ext cx="1312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99.9%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93F66AB8-D660-1E60-4450-C7FD96F76E73}"/>
              </a:ext>
            </a:extLst>
          </p:cNvPr>
          <p:cNvSpPr txBox="1"/>
          <p:nvPr/>
        </p:nvSpPr>
        <p:spPr>
          <a:xfrm>
            <a:off x="24490454" y="13727590"/>
            <a:ext cx="1312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0.1%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A5178B5A-5DAB-8BB2-8C5D-E25B2FB06779}"/>
              </a:ext>
            </a:extLst>
          </p:cNvPr>
          <p:cNvSpPr txBox="1"/>
          <p:nvPr/>
        </p:nvSpPr>
        <p:spPr>
          <a:xfrm>
            <a:off x="12779331" y="17843940"/>
            <a:ext cx="8648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>
                <a:latin typeface="Segoe UI" panose="020B0502040204020203" pitchFamily="34" charset="0"/>
                <a:cs typeface="Segoe UI" panose="020B0502040204020203" pitchFamily="34" charset="0"/>
              </a:rPr>
              <a:t>wahr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C7423EE3-1114-19A1-F42F-82D88B0AD9F5}"/>
              </a:ext>
            </a:extLst>
          </p:cNvPr>
          <p:cNvSpPr txBox="1"/>
          <p:nvPr/>
        </p:nvSpPr>
        <p:spPr>
          <a:xfrm>
            <a:off x="15137604" y="17843940"/>
            <a:ext cx="1068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>
                <a:latin typeface="Segoe UI" panose="020B0502040204020203" pitchFamily="34" charset="0"/>
                <a:cs typeface="Segoe UI" panose="020B0502040204020203" pitchFamily="34" charset="0"/>
              </a:rPr>
              <a:t>falsch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4A8824C0-957A-914B-6133-097982D7CE17}"/>
              </a:ext>
            </a:extLst>
          </p:cNvPr>
          <p:cNvSpPr txBox="1"/>
          <p:nvPr/>
        </p:nvSpPr>
        <p:spPr>
          <a:xfrm>
            <a:off x="20678023" y="17843940"/>
            <a:ext cx="8648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>
                <a:latin typeface="Segoe UI" panose="020B0502040204020203" pitchFamily="34" charset="0"/>
                <a:cs typeface="Segoe UI" panose="020B0502040204020203" pitchFamily="34" charset="0"/>
              </a:rPr>
              <a:t>wahr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0EDADB27-1E2A-D72B-A3A7-3F0A8DB969BB}"/>
              </a:ext>
            </a:extLst>
          </p:cNvPr>
          <p:cNvSpPr txBox="1"/>
          <p:nvPr/>
        </p:nvSpPr>
        <p:spPr>
          <a:xfrm>
            <a:off x="23036295" y="17843940"/>
            <a:ext cx="1068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>
                <a:latin typeface="Segoe UI" panose="020B0502040204020203" pitchFamily="34" charset="0"/>
                <a:cs typeface="Segoe UI" panose="020B0502040204020203" pitchFamily="34" charset="0"/>
              </a:rPr>
              <a:t>falsch</a:t>
            </a:r>
          </a:p>
        </p:txBody>
      </p:sp>
      <p:pic>
        <p:nvPicPr>
          <p:cNvPr id="9" name="Grafik 8" descr="Ein Bild, das Grafiken, Clipart, Grafikdesign, Kunst enthält.&#10;&#10;KI-generierte Inhalte können fehlerhaft sein.">
            <a:extLst>
              <a:ext uri="{FF2B5EF4-FFF2-40B4-BE49-F238E27FC236}">
                <a16:creationId xmlns:a16="http://schemas.microsoft.com/office/drawing/2014/main" id="{987BB4DD-9662-4A96-9E4F-1F5CD7FDF73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4771" y="10689490"/>
            <a:ext cx="3592079" cy="2694059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22BFA927-D5C4-0A10-6300-0F414B6E59E0}"/>
              </a:ext>
            </a:extLst>
          </p:cNvPr>
          <p:cNvSpPr txBox="1"/>
          <p:nvPr/>
        </p:nvSpPr>
        <p:spPr>
          <a:xfrm>
            <a:off x="23897245" y="11017055"/>
            <a:ext cx="14404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3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lang="de-DE" sz="13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8197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160</Words>
  <Application>Microsoft Office PowerPoint</Application>
  <PresentationFormat>Benutzerdefiniert</PresentationFormat>
  <Paragraphs>32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Segoe UI</vt:lpstr>
      <vt:lpstr>Segoe UI Black</vt:lpstr>
      <vt:lpstr>Segoe UI Light</vt:lpstr>
      <vt:lpstr>Office Theme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Morrison</dc:creator>
  <cp:lastModifiedBy>Paul Moritz Baumgartner</cp:lastModifiedBy>
  <cp:revision>108</cp:revision>
  <dcterms:created xsi:type="dcterms:W3CDTF">2019-04-03T04:48:47Z</dcterms:created>
  <dcterms:modified xsi:type="dcterms:W3CDTF">2026-01-31T07:37:00Z</dcterms:modified>
</cp:coreProperties>
</file>